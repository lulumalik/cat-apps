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4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172200"/>
            <a:ext cx="12191695" cy="685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502920"/>
            <a:ext cx="1482294" cy="12344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434840" y="1874519"/>
            <a:ext cx="3291840" cy="347472"/>
          </a:xfrm>
          <a:prstGeom prst="roundRect">
            <a:avLst>
              <a:gd name="adj" fmla="val 4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A245C"/>
                </a:solidFill>
              </a:defRPr>
            </a:pPr>
            <a:r>
              <a:t>PRESENTASI CLOSING · JULI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600" b="1">
                <a:solidFill>
                  <a:srgbClr val="FFFFFF"/>
                </a:solidFill>
              </a:defRPr>
            </a:pPr>
            <a:r>
              <a:t>Pratistha Cendekia Prestasi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3756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BFDBFE"/>
                </a:solidFill>
              </a:defRPr>
            </a:pPr>
            <a:r>
              <a:t>CAT Apps — Platform Bimbel &amp; Simulasi Seleksi AKPOL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4160520"/>
            <a:ext cx="6309360" cy="1417320"/>
          </a:xfrm>
          <a:prstGeom prst="roundRect">
            <a:avLst>
              <a:gd name="adj" fmla="val 8000"/>
            </a:avLst>
          </a:prstGeom>
          <a:solidFill>
            <a:srgbClr val="0F337A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1489" y="4343400"/>
            <a:ext cx="309854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rPr dirty="0" err="1"/>
              <a:t>pratisthaindonesia.com</a:t>
            </a:r>
            <a:endParaRPr dirty="0"/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rPr dirty="0" err="1"/>
              <a:t>Periode</a:t>
            </a:r>
            <a:r>
              <a:rPr dirty="0"/>
              <a:t>: 4 Mei – </a:t>
            </a:r>
            <a:r>
              <a:rPr lang="en-US" dirty="0"/>
              <a:t>21 July</a:t>
            </a:r>
            <a:r>
              <a:rPr dirty="0"/>
              <a:t> 2026 · Bandung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2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Agenda Presentasi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90766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FDBFE"/>
                </a:solidFill>
              </a:defRPr>
            </a:pPr>
            <a:r>
              <a:rPr dirty="0"/>
              <a:t>Roadmap </a:t>
            </a:r>
            <a:r>
              <a:rPr dirty="0" err="1"/>
              <a:t>sesi</a:t>
            </a:r>
            <a:r>
              <a:rPr dirty="0"/>
              <a:t> </a:t>
            </a:r>
            <a:r>
              <a:rPr dirty="0" err="1"/>
              <a:t>dari</a:t>
            </a:r>
            <a:r>
              <a:rPr dirty="0"/>
              <a:t> </a:t>
            </a:r>
            <a:r>
              <a:rPr dirty="0" err="1"/>
              <a:t>latar</a:t>
            </a:r>
            <a:r>
              <a:rPr dirty="0"/>
              <a:t> </a:t>
            </a:r>
            <a:r>
              <a:rPr dirty="0" err="1"/>
              <a:t>belakang</a:t>
            </a:r>
            <a:r>
              <a:rPr dirty="0"/>
              <a:t> </a:t>
            </a:r>
            <a:r>
              <a:rPr dirty="0" err="1"/>
              <a:t>hingga</a:t>
            </a:r>
            <a:r>
              <a:rPr dirty="0"/>
              <a:t> </a:t>
            </a:r>
            <a:r>
              <a:rPr dirty="0" err="1"/>
              <a:t>penutup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39496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04088" y="1581912"/>
            <a:ext cx="384048" cy="384048"/>
          </a:xfrm>
          <a:prstGeom prst="ellipse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1F2937"/>
                </a:solidFill>
              </a:defRPr>
            </a:pPr>
            <a:r>
              <a:rPr lang="en-US" dirty="0"/>
              <a:t>1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188720" y="1625375"/>
            <a:ext cx="2510239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rPr b="1" dirty="0" err="1"/>
              <a:t>Latar</a:t>
            </a:r>
            <a:r>
              <a:rPr b="1" dirty="0"/>
              <a:t> </a:t>
            </a:r>
            <a:r>
              <a:rPr b="1" dirty="0" err="1"/>
              <a:t>belakang</a:t>
            </a:r>
            <a:r>
              <a:rPr b="1" dirty="0"/>
              <a:t> &amp; </a:t>
            </a:r>
            <a:r>
              <a:rPr b="1" dirty="0" err="1"/>
              <a:t>identitas</a:t>
            </a:r>
            <a:r>
              <a:rPr b="1" dirty="0"/>
              <a:t> </a:t>
            </a:r>
            <a:r>
              <a:rPr b="1" dirty="0" err="1"/>
              <a:t>proyek</a:t>
            </a:r>
            <a:endParaRPr b="1" dirty="0"/>
          </a:p>
        </p:txBody>
      </p:sp>
      <p:sp>
        <p:nvSpPr>
          <p:cNvPr id="9" name="Rounded Rectangle 8"/>
          <p:cNvSpPr/>
          <p:nvPr/>
        </p:nvSpPr>
        <p:spPr>
          <a:xfrm>
            <a:off x="594360" y="2286000"/>
            <a:ext cx="539496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04088" y="2450592"/>
            <a:ext cx="384048" cy="384048"/>
          </a:xfrm>
          <a:prstGeom prst="ellipse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1F2937"/>
                </a:solidFill>
              </a:defRPr>
            </a:pPr>
            <a:r>
              <a:rPr lang="en-US" dirty="0"/>
              <a:t>2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1197864" y="2555857"/>
            <a:ext cx="397383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rPr b="1" dirty="0" err="1"/>
              <a:t>Ringkasan</a:t>
            </a:r>
            <a:r>
              <a:rPr b="1" dirty="0"/>
              <a:t> </a:t>
            </a:r>
            <a:r>
              <a:rPr b="1" dirty="0" err="1"/>
              <a:t>eksekutif</a:t>
            </a:r>
            <a:r>
              <a:rPr b="1" dirty="0"/>
              <a:t> &amp; </a:t>
            </a:r>
            <a:r>
              <a:rPr b="1" dirty="0" err="1"/>
              <a:t>statistik</a:t>
            </a:r>
            <a:endParaRPr b="1" dirty="0"/>
          </a:p>
        </p:txBody>
      </p:sp>
      <p:sp>
        <p:nvSpPr>
          <p:cNvPr id="12" name="Rounded Rectangle 11"/>
          <p:cNvSpPr/>
          <p:nvPr/>
        </p:nvSpPr>
        <p:spPr>
          <a:xfrm>
            <a:off x="594360" y="3154680"/>
            <a:ext cx="539496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04088" y="3319272"/>
            <a:ext cx="384048" cy="384048"/>
          </a:xfrm>
          <a:prstGeom prst="ellipse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1F2937"/>
                </a:solidFill>
              </a:defRPr>
            </a:pPr>
            <a:r>
              <a:rPr lang="en-US" dirty="0"/>
              <a:t>3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1197864" y="3365593"/>
            <a:ext cx="3982974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rPr b="1" dirty="0"/>
              <a:t>Alur platform end-to-end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023359"/>
            <a:ext cx="539496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04088" y="4187951"/>
            <a:ext cx="384048" cy="384048"/>
          </a:xfrm>
          <a:prstGeom prst="ellipse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1F2937"/>
                </a:solidFill>
              </a:defRPr>
            </a:pPr>
            <a:r>
              <a:rPr lang="en-US" dirty="0"/>
              <a:t>4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1184148" y="4233781"/>
            <a:ext cx="47091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rPr b="1" dirty="0" err="1"/>
              <a:t>Peran</a:t>
            </a:r>
            <a:r>
              <a:rPr b="1" dirty="0"/>
              <a:t> </a:t>
            </a:r>
            <a:r>
              <a:rPr b="1" dirty="0" err="1"/>
              <a:t>pengguna</a:t>
            </a:r>
            <a:r>
              <a:rPr b="1" dirty="0"/>
              <a:t> &amp; tech stack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417320"/>
            <a:ext cx="539496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419088" y="1581912"/>
            <a:ext cx="384048" cy="384048"/>
          </a:xfrm>
          <a:prstGeom prst="ellipse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1F2937"/>
                </a:solidFill>
              </a:defRPr>
            </a:pPr>
            <a:r>
              <a:rPr lang="en-US" dirty="0"/>
              <a:t>5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6903720" y="1641458"/>
            <a:ext cx="4114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rPr lang="en-US" b="1" dirty="0"/>
              <a:t>12 </a:t>
            </a:r>
            <a:r>
              <a:rPr lang="en-US" b="1" dirty="0" err="1"/>
              <a:t>modul</a:t>
            </a:r>
            <a:r>
              <a:rPr lang="en-US" b="1" dirty="0"/>
              <a:t> </a:t>
            </a:r>
            <a:r>
              <a:rPr lang="en-US" b="1" dirty="0" err="1"/>
              <a:t>ruang</a:t>
            </a:r>
            <a:r>
              <a:rPr lang="en-US" b="1" dirty="0"/>
              <a:t> </a:t>
            </a:r>
            <a:r>
              <a:rPr lang="en-US" b="1" dirty="0" err="1"/>
              <a:t>lingkup</a:t>
            </a:r>
            <a:r>
              <a:rPr lang="en-US" b="1" dirty="0"/>
              <a:t> </a:t>
            </a:r>
            <a:r>
              <a:rPr lang="en-US" b="1" dirty="0" err="1"/>
              <a:t>pekerjaan</a:t>
            </a:r>
            <a:endParaRPr b="1" dirty="0"/>
          </a:p>
        </p:txBody>
      </p:sp>
      <p:sp>
        <p:nvSpPr>
          <p:cNvPr id="21" name="Rounded Rectangle 20"/>
          <p:cNvSpPr/>
          <p:nvPr/>
        </p:nvSpPr>
        <p:spPr>
          <a:xfrm>
            <a:off x="6309360" y="2286000"/>
            <a:ext cx="539496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419088" y="2450592"/>
            <a:ext cx="384048" cy="384048"/>
          </a:xfrm>
          <a:prstGeom prst="ellipse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1F2937"/>
                </a:solidFill>
              </a:defRPr>
            </a:pPr>
            <a:r>
              <a:rPr lang="en-US" dirty="0"/>
              <a:t>6</a:t>
            </a:r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6903720" y="2542252"/>
            <a:ext cx="400240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rPr b="1" dirty="0" err="1"/>
              <a:t>Fitur</a:t>
            </a:r>
            <a:r>
              <a:rPr b="1" dirty="0"/>
              <a:t> </a:t>
            </a:r>
            <a:r>
              <a:rPr b="1" dirty="0" err="1"/>
              <a:t>tambahan</a:t>
            </a:r>
            <a:r>
              <a:rPr b="1" dirty="0"/>
              <a:t> &amp; timeline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154680"/>
            <a:ext cx="539496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419088" y="3319272"/>
            <a:ext cx="384048" cy="384048"/>
          </a:xfrm>
          <a:prstGeom prst="ellipse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1F2937"/>
                </a:solidFill>
              </a:defRPr>
            </a:pPr>
            <a:r>
              <a:rPr lang="en-US" dirty="0"/>
              <a:t>7</a:t>
            </a:r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6903720" y="3385625"/>
            <a:ext cx="38785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rPr b="1" dirty="0"/>
              <a:t>Demo </a:t>
            </a:r>
            <a:r>
              <a:rPr b="1" dirty="0" err="1"/>
              <a:t>alur</a:t>
            </a:r>
            <a:r>
              <a:rPr b="1" dirty="0"/>
              <a:t> &amp; portal orang </a:t>
            </a:r>
            <a:r>
              <a:rPr b="1" dirty="0" err="1"/>
              <a:t>tua</a:t>
            </a:r>
            <a:endParaRPr b="1" dirty="0"/>
          </a:p>
        </p:txBody>
      </p:sp>
      <p:sp>
        <p:nvSpPr>
          <p:cNvPr id="27" name="Rounded Rectangle 26"/>
          <p:cNvSpPr/>
          <p:nvPr/>
        </p:nvSpPr>
        <p:spPr>
          <a:xfrm>
            <a:off x="6309360" y="4023359"/>
            <a:ext cx="539496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419088" y="4187951"/>
            <a:ext cx="384048" cy="384048"/>
          </a:xfrm>
          <a:prstGeom prst="ellipse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1F2937"/>
                </a:solidFill>
              </a:defRPr>
            </a:pPr>
            <a:r>
              <a:rPr lang="en-US" dirty="0"/>
              <a:t>8</a:t>
            </a:r>
            <a:endParaRPr dirty="0"/>
          </a:p>
        </p:txBody>
      </p:sp>
      <p:sp>
        <p:nvSpPr>
          <p:cNvPr id="29" name="TextBox 28"/>
          <p:cNvSpPr txBox="1"/>
          <p:nvPr/>
        </p:nvSpPr>
        <p:spPr>
          <a:xfrm>
            <a:off x="6912864" y="4224747"/>
            <a:ext cx="36118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rPr b="1" dirty="0" err="1"/>
              <a:t>Catatan</a:t>
            </a:r>
            <a:r>
              <a:rPr b="1" dirty="0"/>
              <a:t> </a:t>
            </a:r>
            <a:r>
              <a:rPr b="1" dirty="0" err="1"/>
              <a:t>teknis</a:t>
            </a:r>
            <a:r>
              <a:rPr b="1" dirty="0"/>
              <a:t> &amp; </a:t>
            </a:r>
            <a:r>
              <a:rPr b="1" dirty="0" err="1"/>
              <a:t>penutup</a:t>
            </a:r>
            <a:endParaRPr b="1" dirty="0"/>
          </a:p>
        </p:txBody>
      </p:sp>
      <p:sp>
        <p:nvSpPr>
          <p:cNvPr id="30" name="Rectangle 2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A2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6547104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FDBFE"/>
                </a:solidFill>
              </a:defRPr>
            </a:pPr>
            <a:r>
              <a:t>Pratistha Cendekia Prestasi · CAT Apps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547104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D96A"/>
                </a:solidFill>
              </a:defRPr>
            </a:pPr>
            <a:r>
              <a:t>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4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5A623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3927614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 err="1"/>
              <a:t>Perkenalan</a:t>
            </a:r>
            <a:r>
              <a:rPr dirty="0"/>
              <a:t> </a:t>
            </a:r>
            <a:r>
              <a:rPr lang="en-US" dirty="0" err="1"/>
              <a:t>Aplikasi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822960" y="3794760"/>
            <a:ext cx="349416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FDBFE"/>
                </a:solidFill>
              </a:defRPr>
            </a:pPr>
            <a:r>
              <a:rPr lang="en-US" dirty="0" err="1"/>
              <a:t>L</a:t>
            </a:r>
            <a:r>
              <a:rPr dirty="0" err="1"/>
              <a:t>atar</a:t>
            </a:r>
            <a:r>
              <a:rPr dirty="0"/>
              <a:t> </a:t>
            </a:r>
            <a:r>
              <a:rPr dirty="0" err="1"/>
              <a:t>belakang</a:t>
            </a:r>
            <a:r>
              <a:rPr dirty="0"/>
              <a:t>, dan </a:t>
            </a:r>
            <a:r>
              <a:rPr lang="en-US" dirty="0" err="1"/>
              <a:t>R</a:t>
            </a:r>
            <a:r>
              <a:rPr dirty="0" err="1"/>
              <a:t>ingkasan</a:t>
            </a:r>
            <a:r>
              <a:rPr dirty="0"/>
              <a:t> </a:t>
            </a:r>
            <a:r>
              <a:rPr dirty="0" err="1"/>
              <a:t>hasil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2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Latar Belakang &amp; Tujuan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539496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2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defRPr sz="100" b="0">
                <a:solidFill>
                  <a:srgbClr val="1F2937"/>
                </a:solidFill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5098640" cy="40164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23B8F"/>
                </a:solidFill>
              </a:defRPr>
            </a:pPr>
            <a:r>
              <a:rPr lang="en-US" dirty="0" err="1"/>
              <a:t>Mengapa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CAT Apps</a:t>
            </a:r>
            <a:r>
              <a:rPr dirty="0"/>
              <a:t>?</a:t>
            </a:r>
          </a:p>
          <a:p>
            <a:pPr>
              <a:spcBef>
                <a:spcPts val="1000"/>
              </a:spcBef>
              <a:defRPr sz="1400">
                <a:solidFill>
                  <a:srgbClr val="1F2937"/>
                </a:solidFill>
              </a:defRPr>
            </a:pPr>
            <a:r>
              <a:rPr lang="en-US" sz="1400" dirty="0"/>
              <a:t>Lembaga </a:t>
            </a:r>
            <a:r>
              <a:rPr lang="en-US" sz="1400" dirty="0" err="1"/>
              <a:t>kursus</a:t>
            </a:r>
            <a:r>
              <a:rPr lang="en-US" sz="1400" dirty="0"/>
              <a:t> </a:t>
            </a:r>
            <a:r>
              <a:rPr lang="en-US" sz="1400" dirty="0" err="1"/>
              <a:t>persiapan</a:t>
            </a:r>
            <a:r>
              <a:rPr lang="en-US" sz="1400" dirty="0"/>
              <a:t> </a:t>
            </a:r>
            <a:r>
              <a:rPr lang="en-US" sz="1400" dirty="0" err="1"/>
              <a:t>seleksi</a:t>
            </a:r>
            <a:r>
              <a:rPr lang="en-US" sz="1400" dirty="0"/>
              <a:t> </a:t>
            </a:r>
            <a:r>
              <a:rPr lang="en-US" sz="1400" dirty="0" err="1"/>
              <a:t>AKPOL</a:t>
            </a:r>
            <a:r>
              <a:rPr lang="en-US" sz="1400" dirty="0"/>
              <a:t> </a:t>
            </a:r>
            <a:br>
              <a:rPr lang="en-US" sz="1400" dirty="0"/>
            </a:br>
            <a:r>
              <a:rPr lang="en-US" sz="1400" dirty="0" err="1"/>
              <a:t>membutuhkan</a:t>
            </a:r>
            <a:r>
              <a:rPr lang="en-US" sz="1400" dirty="0"/>
              <a:t> </a:t>
            </a:r>
            <a:r>
              <a:rPr lang="en-US" sz="1400" dirty="0" err="1"/>
              <a:t>sistem</a:t>
            </a:r>
            <a:r>
              <a:rPr lang="en-US" sz="1400" dirty="0"/>
              <a:t> yang </a:t>
            </a:r>
            <a:r>
              <a:rPr lang="en-US" sz="1400" dirty="0" err="1"/>
              <a:t>terintegrasi</a:t>
            </a:r>
            <a:r>
              <a:rPr lang="en-US" sz="1400" dirty="0"/>
              <a:t> </a:t>
            </a: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mengelola</a:t>
            </a:r>
            <a:r>
              <a:rPr lang="en-US" sz="1400" dirty="0"/>
              <a:t> </a:t>
            </a:r>
            <a:br>
              <a:rPr lang="en-US" sz="1400" dirty="0"/>
            </a:br>
            <a:r>
              <a:rPr lang="en-US" sz="1400" dirty="0" err="1"/>
              <a:t>seluruh</a:t>
            </a:r>
            <a:r>
              <a:rPr lang="en-US" sz="1400" dirty="0"/>
              <a:t> proses </a:t>
            </a:r>
            <a:r>
              <a:rPr lang="en-US" sz="1400" dirty="0" err="1"/>
              <a:t>pembelajaran</a:t>
            </a:r>
            <a:r>
              <a:rPr lang="en-US" sz="1400" dirty="0"/>
              <a:t> </a:t>
            </a:r>
            <a:r>
              <a:rPr lang="en-US" sz="1400" dirty="0" err="1"/>
              <a:t>secara</a:t>
            </a:r>
            <a:r>
              <a:rPr lang="en-US" sz="1400" dirty="0"/>
              <a:t> </a:t>
            </a:r>
            <a:r>
              <a:rPr lang="en-US" sz="1400" dirty="0" err="1"/>
              <a:t>efektif</a:t>
            </a:r>
            <a:r>
              <a:rPr lang="en-US" sz="1400" dirty="0"/>
              <a:t> dan </a:t>
            </a:r>
            <a:r>
              <a:rPr lang="en-US" sz="1400" dirty="0" err="1"/>
              <a:t>efisien</a:t>
            </a:r>
            <a:r>
              <a:rPr lang="en-US" sz="1400" dirty="0"/>
              <a:t>. </a:t>
            </a:r>
          </a:p>
          <a:p>
            <a:pPr>
              <a:spcBef>
                <a:spcPts val="1000"/>
              </a:spcBef>
              <a:defRPr sz="1400">
                <a:solidFill>
                  <a:srgbClr val="1F2937"/>
                </a:solidFill>
              </a:defRPr>
            </a:pPr>
            <a:r>
              <a:rPr lang="en-US" sz="1400" dirty="0" err="1"/>
              <a:t>Pengelolaan</a:t>
            </a:r>
            <a:r>
              <a:rPr lang="en-US" sz="1400" dirty="0"/>
              <a:t> </a:t>
            </a:r>
            <a:r>
              <a:rPr lang="en-US" sz="1400" dirty="0" err="1"/>
              <a:t>pendaftaran</a:t>
            </a:r>
            <a:r>
              <a:rPr lang="en-US" sz="1400" dirty="0"/>
              <a:t> </a:t>
            </a:r>
            <a:r>
              <a:rPr lang="en-US" sz="1400" dirty="0" err="1"/>
              <a:t>peserta</a:t>
            </a:r>
            <a:r>
              <a:rPr lang="en-US" sz="1400" dirty="0"/>
              <a:t>, </a:t>
            </a:r>
            <a:r>
              <a:rPr lang="en-US" sz="1400" dirty="0" err="1"/>
              <a:t>administrasi</a:t>
            </a:r>
            <a:r>
              <a:rPr lang="en-US" sz="1400" dirty="0"/>
              <a:t>, </a:t>
            </a:r>
            <a:r>
              <a:rPr lang="en-US" sz="1400" dirty="0" err="1"/>
              <a:t>kelas</a:t>
            </a:r>
            <a:r>
              <a:rPr lang="en-US" sz="1400" dirty="0"/>
              <a:t> </a:t>
            </a:r>
            <a:r>
              <a:rPr lang="en-US" sz="1400" dirty="0" err="1"/>
              <a:t>belajar</a:t>
            </a:r>
            <a:r>
              <a:rPr lang="en-US" sz="1400" dirty="0"/>
              <a:t>, </a:t>
            </a:r>
            <a:br>
              <a:rPr lang="en-US" sz="1400" dirty="0"/>
            </a:br>
            <a:r>
              <a:rPr lang="en-US" sz="1400" dirty="0" err="1"/>
              <a:t>pelaksanaan</a:t>
            </a:r>
            <a:r>
              <a:rPr lang="en-US" sz="1400" dirty="0"/>
              <a:t> </a:t>
            </a:r>
            <a:r>
              <a:rPr lang="en-US" sz="1400" dirty="0" err="1"/>
              <a:t>ujian</a:t>
            </a:r>
            <a:r>
              <a:rPr lang="en-US" sz="1400" dirty="0"/>
              <a:t> </a:t>
            </a:r>
            <a:r>
              <a:rPr lang="en-US" sz="1400" dirty="0" err="1"/>
              <a:t>berbasis</a:t>
            </a:r>
            <a:r>
              <a:rPr lang="en-US" sz="1400" dirty="0"/>
              <a:t> CAT, </a:t>
            </a:r>
            <a:r>
              <a:rPr lang="en-US" sz="1400" dirty="0" err="1"/>
              <a:t>hingga</a:t>
            </a:r>
            <a:r>
              <a:rPr lang="en-US" sz="1400" dirty="0"/>
              <a:t> monitoring </a:t>
            </a:r>
            <a:r>
              <a:rPr lang="en-US" sz="1400" dirty="0" err="1"/>
              <a:t>perkembangan</a:t>
            </a:r>
            <a:r>
              <a:rPr lang="en-US" sz="1400" dirty="0"/>
              <a:t> </a:t>
            </a:r>
            <a:br>
              <a:rPr lang="en-US" sz="1400" dirty="0"/>
            </a:br>
            <a:r>
              <a:rPr lang="en-US" sz="1400" dirty="0" err="1"/>
              <a:t>peserta</a:t>
            </a:r>
            <a:r>
              <a:rPr lang="en-US" sz="1400" dirty="0"/>
              <a:t> </a:t>
            </a:r>
            <a:r>
              <a:rPr lang="en-US" sz="1400" dirty="0" err="1"/>
              <a:t>sering</a:t>
            </a:r>
            <a:r>
              <a:rPr lang="en-US" sz="1400" dirty="0"/>
              <a:t> kali </a:t>
            </a:r>
            <a:r>
              <a:rPr lang="en-US" sz="1400" dirty="0" err="1"/>
              <a:t>masih</a:t>
            </a:r>
            <a:r>
              <a:rPr lang="en-US" sz="1400" dirty="0"/>
              <a:t> </a:t>
            </a:r>
            <a:r>
              <a:rPr lang="en-US" sz="1400" dirty="0" err="1"/>
              <a:t>dilakukan</a:t>
            </a:r>
            <a:r>
              <a:rPr lang="en-US" sz="1400" dirty="0"/>
              <a:t> </a:t>
            </a:r>
            <a:r>
              <a:rPr lang="en-US" sz="1400" dirty="0" err="1"/>
              <a:t>menggunakan</a:t>
            </a:r>
            <a:r>
              <a:rPr lang="en-US" sz="1400" dirty="0"/>
              <a:t> </a:t>
            </a:r>
            <a:r>
              <a:rPr lang="en-US" sz="1400" dirty="0" err="1"/>
              <a:t>berbagai</a:t>
            </a:r>
            <a:r>
              <a:rPr lang="en-US" sz="1400" dirty="0"/>
              <a:t> </a:t>
            </a:r>
            <a:r>
              <a:rPr lang="en-US" sz="1400" dirty="0" err="1"/>
              <a:t>aplikasi</a:t>
            </a:r>
            <a:r>
              <a:rPr lang="en-US" sz="1400" dirty="0"/>
              <a:t> </a:t>
            </a:r>
            <a:br>
              <a:rPr lang="en-US" sz="1400" dirty="0"/>
            </a:br>
            <a:r>
              <a:rPr lang="en-US" sz="1400" dirty="0"/>
              <a:t>yang </a:t>
            </a:r>
            <a:r>
              <a:rPr lang="en-US" sz="1400" dirty="0" err="1"/>
              <a:t>terpisah</a:t>
            </a:r>
            <a:r>
              <a:rPr lang="en-US" sz="1400" dirty="0"/>
              <a:t>. Hal </a:t>
            </a:r>
            <a:r>
              <a:rPr lang="en-US" sz="1400" dirty="0" err="1"/>
              <a:t>tersebut</a:t>
            </a:r>
            <a:r>
              <a:rPr lang="en-US" sz="1400" dirty="0"/>
              <a:t> </a:t>
            </a:r>
            <a:r>
              <a:rPr lang="en-US" sz="1400" dirty="0" err="1"/>
              <a:t>dapat</a:t>
            </a:r>
            <a:r>
              <a:rPr lang="en-US" sz="1400" dirty="0"/>
              <a:t> </a:t>
            </a:r>
            <a:r>
              <a:rPr lang="en-US" sz="1400" dirty="0" err="1"/>
              <a:t>menyebabkan</a:t>
            </a:r>
            <a:r>
              <a:rPr lang="en-US" sz="1400" dirty="0"/>
              <a:t> proses </a:t>
            </a:r>
            <a:r>
              <a:rPr lang="en-US" sz="1400" dirty="0" err="1"/>
              <a:t>menjadi</a:t>
            </a:r>
            <a:r>
              <a:rPr lang="en-US" sz="1400" dirty="0"/>
              <a:t> </a:t>
            </a:r>
            <a:br>
              <a:rPr lang="en-US" sz="1400" dirty="0"/>
            </a:br>
            <a:r>
              <a:rPr lang="en-US" sz="1400" dirty="0" err="1"/>
              <a:t>lebih</a:t>
            </a:r>
            <a:r>
              <a:rPr lang="en-US" sz="1400" dirty="0"/>
              <a:t> </a:t>
            </a:r>
            <a:r>
              <a:rPr lang="en-US" sz="1400" dirty="0" err="1"/>
              <a:t>lambat</a:t>
            </a:r>
            <a:r>
              <a:rPr lang="en-US" sz="1400" dirty="0"/>
              <a:t>, data </a:t>
            </a:r>
            <a:r>
              <a:rPr lang="en-US" sz="1400" dirty="0" err="1"/>
              <a:t>tidak</a:t>
            </a:r>
            <a:r>
              <a:rPr lang="en-US" sz="1400" dirty="0"/>
              <a:t> </a:t>
            </a:r>
            <a:r>
              <a:rPr lang="en-US" sz="1400" dirty="0" err="1"/>
              <a:t>sinkron</a:t>
            </a:r>
            <a:r>
              <a:rPr lang="en-US" sz="1400" dirty="0"/>
              <a:t>, dan </a:t>
            </a:r>
            <a:r>
              <a:rPr lang="en-US" sz="1400" dirty="0" err="1"/>
              <a:t>menyulitkan</a:t>
            </a:r>
            <a:r>
              <a:rPr lang="en-US" sz="1400" dirty="0"/>
              <a:t> proses </a:t>
            </a:r>
            <a:r>
              <a:rPr lang="en-US" sz="1400" dirty="0" err="1"/>
              <a:t>evaluasi</a:t>
            </a:r>
            <a:r>
              <a:rPr lang="en-US" sz="1400" dirty="0"/>
              <a:t>.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 err="1"/>
              <a:t>Dengan</a:t>
            </a:r>
            <a:r>
              <a:rPr lang="en-US" sz="1400" dirty="0"/>
              <a:t> </a:t>
            </a:r>
            <a:r>
              <a:rPr lang="en-US" sz="1400" dirty="0" err="1"/>
              <a:t>sistem</a:t>
            </a:r>
            <a:r>
              <a:rPr lang="en-US" sz="1400" dirty="0"/>
              <a:t> yang </a:t>
            </a:r>
            <a:r>
              <a:rPr lang="en-US" sz="1400" dirty="0" err="1"/>
              <a:t>terintegrasi</a:t>
            </a:r>
            <a:r>
              <a:rPr lang="en-US" sz="1400" dirty="0"/>
              <a:t>, </a:t>
            </a:r>
            <a:r>
              <a:rPr lang="en-US" sz="1400" dirty="0" err="1"/>
              <a:t>pengelola</a:t>
            </a:r>
            <a:r>
              <a:rPr lang="en-US" sz="1400" dirty="0"/>
              <a:t> </a:t>
            </a:r>
            <a:r>
              <a:rPr lang="en-US" sz="1400" dirty="0" err="1"/>
              <a:t>bimbel</a:t>
            </a:r>
            <a:r>
              <a:rPr lang="en-US" sz="1400" dirty="0"/>
              <a:t> </a:t>
            </a:r>
            <a:r>
              <a:rPr lang="en-US" sz="1400" dirty="0" err="1"/>
              <a:t>dapat</a:t>
            </a:r>
            <a:r>
              <a:rPr lang="en-US" sz="1400" dirty="0"/>
              <a:t> </a:t>
            </a:r>
            <a:br>
              <a:rPr lang="en-US" sz="1400" dirty="0"/>
            </a:br>
            <a:r>
              <a:rPr lang="en-US" sz="1400" dirty="0" err="1"/>
              <a:t>meningkatkan</a:t>
            </a:r>
            <a:r>
              <a:rPr lang="en-US" sz="1400" dirty="0"/>
              <a:t> </a:t>
            </a:r>
            <a:r>
              <a:rPr lang="en-US" sz="1400" dirty="0" err="1"/>
              <a:t>efisiensi</a:t>
            </a:r>
            <a:r>
              <a:rPr lang="en-US" sz="1400" dirty="0"/>
              <a:t> </a:t>
            </a:r>
            <a:r>
              <a:rPr lang="en-US" sz="1400" dirty="0" err="1"/>
              <a:t>operasional</a:t>
            </a:r>
            <a:r>
              <a:rPr lang="en-US" sz="1400" dirty="0"/>
              <a:t>, </a:t>
            </a:r>
            <a:r>
              <a:rPr lang="en-US" sz="1400" dirty="0" err="1"/>
              <a:t>meminimalkan</a:t>
            </a:r>
            <a:r>
              <a:rPr lang="en-US" sz="1400" dirty="0"/>
              <a:t> </a:t>
            </a:r>
            <a:r>
              <a:rPr lang="en-US" sz="1400" dirty="0" err="1"/>
              <a:t>kesalahan</a:t>
            </a:r>
            <a:r>
              <a:rPr lang="en-US" sz="1400" dirty="0"/>
              <a:t> </a:t>
            </a:r>
            <a:br>
              <a:rPr lang="en-US" sz="1400" dirty="0"/>
            </a:br>
            <a:r>
              <a:rPr lang="en-US" sz="1400" dirty="0" err="1"/>
              <a:t>administrasi</a:t>
            </a:r>
            <a:r>
              <a:rPr lang="en-US" sz="1400" dirty="0"/>
              <a:t>, </a:t>
            </a:r>
            <a:r>
              <a:rPr lang="en-US" sz="1400" dirty="0" err="1"/>
              <a:t>serta</a:t>
            </a:r>
            <a:r>
              <a:rPr lang="en-US" sz="1400" dirty="0"/>
              <a:t> </a:t>
            </a:r>
            <a:r>
              <a:rPr lang="en-US" sz="1400" dirty="0" err="1"/>
              <a:t>memperoleh</a:t>
            </a:r>
            <a:r>
              <a:rPr lang="en-US" sz="1400" dirty="0"/>
              <a:t> data dan </a:t>
            </a:r>
            <a:r>
              <a:rPr lang="en-US" sz="1400" dirty="0" err="1"/>
              <a:t>laporan</a:t>
            </a:r>
            <a:r>
              <a:rPr lang="en-US" sz="1400" dirty="0"/>
              <a:t> </a:t>
            </a:r>
            <a:r>
              <a:rPr lang="en-US" sz="1400" dirty="0" err="1"/>
              <a:t>secara</a:t>
            </a:r>
            <a:r>
              <a:rPr lang="en-US" sz="1400" dirty="0"/>
              <a:t> real-time. </a:t>
            </a:r>
          </a:p>
          <a:p>
            <a:pPr>
              <a:spcBef>
                <a:spcPts val="1000"/>
              </a:spcBef>
              <a:defRPr sz="1400">
                <a:solidFill>
                  <a:srgbClr val="1F2937"/>
                </a:solidFill>
              </a:defRPr>
            </a:pPr>
            <a:r>
              <a:rPr lang="en-US" sz="1400" dirty="0"/>
              <a:t>Di </a:t>
            </a:r>
            <a:r>
              <a:rPr lang="en-US" sz="1400" dirty="0" err="1"/>
              <a:t>sisi</a:t>
            </a:r>
            <a:r>
              <a:rPr lang="en-US" sz="1400" dirty="0"/>
              <a:t> lain, </a:t>
            </a:r>
            <a:r>
              <a:rPr lang="en-US" sz="1400" dirty="0" err="1"/>
              <a:t>peserta</a:t>
            </a:r>
            <a:r>
              <a:rPr lang="en-US" sz="1400" dirty="0"/>
              <a:t> </a:t>
            </a:r>
            <a:r>
              <a:rPr lang="en-US" sz="1400" dirty="0" err="1"/>
              <a:t>mendapatkan</a:t>
            </a:r>
            <a:r>
              <a:rPr lang="en-US" sz="1400" dirty="0"/>
              <a:t> </a:t>
            </a:r>
            <a:r>
              <a:rPr lang="en-US" sz="1400" dirty="0" err="1"/>
              <a:t>pengalaman</a:t>
            </a:r>
            <a:r>
              <a:rPr lang="en-US" sz="1400" dirty="0"/>
              <a:t> </a:t>
            </a:r>
            <a:r>
              <a:rPr lang="en-US" sz="1400" dirty="0" err="1"/>
              <a:t>belajar</a:t>
            </a:r>
            <a:r>
              <a:rPr lang="en-US" sz="1400" dirty="0"/>
              <a:t> yang </a:t>
            </a:r>
            <a:r>
              <a:rPr lang="en-US" sz="1400" dirty="0" err="1"/>
              <a:t>lebih</a:t>
            </a:r>
            <a:r>
              <a:rPr lang="en-US" sz="1400" dirty="0"/>
              <a:t> </a:t>
            </a:r>
            <a:br>
              <a:rPr lang="en-US" sz="1400" dirty="0"/>
            </a:br>
            <a:r>
              <a:rPr lang="en-US" sz="1400" dirty="0" err="1"/>
              <a:t>terstruktur</a:t>
            </a:r>
            <a:r>
              <a:rPr lang="en-US" sz="1400" dirty="0"/>
              <a:t>, </a:t>
            </a:r>
            <a:r>
              <a:rPr lang="en-US" sz="1400" dirty="0" err="1"/>
              <a:t>mudah</a:t>
            </a:r>
            <a:r>
              <a:rPr lang="en-US" sz="1400" dirty="0"/>
              <a:t> </a:t>
            </a:r>
            <a:r>
              <a:rPr lang="en-US" sz="1400" dirty="0" err="1"/>
              <a:t>diakses</a:t>
            </a:r>
            <a:r>
              <a:rPr lang="en-US" sz="1400" dirty="0"/>
              <a:t>, dan </a:t>
            </a:r>
            <a:r>
              <a:rPr lang="en-US" sz="1400" dirty="0" err="1"/>
              <a:t>sesuai</a:t>
            </a:r>
            <a:r>
              <a:rPr lang="en-US" sz="1400" dirty="0"/>
              <a:t> </a:t>
            </a:r>
            <a:r>
              <a:rPr lang="en-US" sz="1400" dirty="0" err="1"/>
              <a:t>dengan</a:t>
            </a:r>
            <a:r>
              <a:rPr lang="en-US" sz="1400" dirty="0"/>
              <a:t> </a:t>
            </a:r>
            <a:r>
              <a:rPr lang="en-US" sz="1400" dirty="0" err="1"/>
              <a:t>kebutuhan</a:t>
            </a:r>
            <a:r>
              <a:rPr lang="en-US" sz="1400" dirty="0"/>
              <a:t> </a:t>
            </a:r>
            <a:br>
              <a:rPr lang="en-US" sz="1400" dirty="0"/>
            </a:br>
            <a:r>
              <a:rPr lang="en-US" sz="1400" dirty="0" err="1"/>
              <a:t>persiapan</a:t>
            </a:r>
            <a:r>
              <a:rPr lang="en-US" sz="1400" dirty="0"/>
              <a:t> </a:t>
            </a:r>
            <a:r>
              <a:rPr lang="en-US" sz="1400" dirty="0" err="1"/>
              <a:t>menghadapi</a:t>
            </a:r>
            <a:r>
              <a:rPr lang="en-US" sz="1400" dirty="0"/>
              <a:t> </a:t>
            </a:r>
            <a:r>
              <a:rPr lang="en-US" sz="1400" dirty="0" err="1"/>
              <a:t>seleksi</a:t>
            </a:r>
            <a:r>
              <a:rPr lang="en-US" sz="1400" dirty="0"/>
              <a:t> </a:t>
            </a:r>
            <a:r>
              <a:rPr lang="en-US" sz="1400" dirty="0" err="1"/>
              <a:t>AKPOL</a:t>
            </a:r>
            <a:r>
              <a:rPr lang="en-US" sz="1400" dirty="0"/>
              <a:t>.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6172200" y="1417320"/>
            <a:ext cx="5394960" cy="960120"/>
          </a:xfrm>
          <a:prstGeom prst="roundRect">
            <a:avLst>
              <a:gd name="adj" fmla="val 10000"/>
            </a:avLst>
          </a:prstGeom>
          <a:solidFill>
            <a:srgbClr val="E8F0FE"/>
          </a:solidFill>
          <a:ln w="12700">
            <a:solidFill>
              <a:srgbClr val="1E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230729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3B8F"/>
                </a:solidFill>
              </a:defRPr>
            </a:pPr>
            <a:r>
              <a:rPr dirty="0"/>
              <a:t>Centralized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rPr b="1" dirty="0" err="1"/>
              <a:t>Manajemen</a:t>
            </a:r>
            <a:r>
              <a:rPr b="1" dirty="0"/>
              <a:t> </a:t>
            </a:r>
            <a:r>
              <a:rPr b="1" dirty="0" err="1"/>
              <a:t>soal</a:t>
            </a:r>
            <a:r>
              <a:rPr b="1" dirty="0"/>
              <a:t>, </a:t>
            </a:r>
            <a:r>
              <a:rPr b="1" dirty="0" err="1"/>
              <a:t>ujian</a:t>
            </a:r>
            <a:r>
              <a:rPr b="1" dirty="0"/>
              <a:t> &amp; </a:t>
            </a:r>
            <a:r>
              <a:rPr b="1" dirty="0" err="1"/>
              <a:t>kelas</a:t>
            </a:r>
            <a:endParaRPr b="1" dirty="0"/>
          </a:p>
        </p:txBody>
      </p:sp>
      <p:sp>
        <p:nvSpPr>
          <p:cNvPr id="9" name="Rounded Rectangle 8"/>
          <p:cNvSpPr/>
          <p:nvPr/>
        </p:nvSpPr>
        <p:spPr>
          <a:xfrm>
            <a:off x="6172200" y="2532888"/>
            <a:ext cx="5394960" cy="960120"/>
          </a:xfrm>
          <a:prstGeom prst="roundRect">
            <a:avLst>
              <a:gd name="adj" fmla="val 10000"/>
            </a:avLst>
          </a:prstGeom>
          <a:solidFill>
            <a:srgbClr val="E8F0FE"/>
          </a:solidFill>
          <a:ln w="12700">
            <a:solidFill>
              <a:srgbClr val="1E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2670048"/>
            <a:ext cx="273478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3B8F"/>
                </a:solidFill>
              </a:defRPr>
            </a:pPr>
            <a:r>
              <a:rPr dirty="0"/>
              <a:t>Real-time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rPr b="1" dirty="0"/>
              <a:t>Dashboard &amp; </a:t>
            </a:r>
            <a:r>
              <a:rPr b="1" dirty="0" err="1"/>
              <a:t>laporan</a:t>
            </a:r>
            <a:r>
              <a:rPr b="1" dirty="0"/>
              <a:t> </a:t>
            </a:r>
            <a:r>
              <a:rPr b="1" dirty="0" err="1"/>
              <a:t>perkembangan</a:t>
            </a:r>
            <a:endParaRPr b="1" dirty="0"/>
          </a:p>
        </p:txBody>
      </p:sp>
      <p:sp>
        <p:nvSpPr>
          <p:cNvPr id="11" name="Rounded Rectangle 10"/>
          <p:cNvSpPr/>
          <p:nvPr/>
        </p:nvSpPr>
        <p:spPr>
          <a:xfrm>
            <a:off x="6172200" y="3648456"/>
            <a:ext cx="5394960" cy="960120"/>
          </a:xfrm>
          <a:prstGeom prst="roundRect">
            <a:avLst>
              <a:gd name="adj" fmla="val 10000"/>
            </a:avLst>
          </a:prstGeom>
          <a:solidFill>
            <a:srgbClr val="E8F0FE"/>
          </a:solidFill>
          <a:ln w="12700">
            <a:solidFill>
              <a:srgbClr val="1E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3785616"/>
            <a:ext cx="274748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3B8F"/>
                </a:solidFill>
              </a:defRPr>
            </a:pPr>
            <a:r>
              <a:rPr dirty="0"/>
              <a:t>Connected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rPr b="1" dirty="0" err="1"/>
              <a:t>Peserta</a:t>
            </a:r>
            <a:r>
              <a:rPr b="1" dirty="0"/>
              <a:t> · Mentor · Admin · Or</a:t>
            </a:r>
            <a:r>
              <a:rPr lang="en-US" b="1" dirty="0"/>
              <a:t>ang </a:t>
            </a:r>
            <a:r>
              <a:rPr lang="en-US" b="1" dirty="0" err="1"/>
              <a:t>Tua</a:t>
            </a:r>
            <a:endParaRPr b="1" dirty="0"/>
          </a:p>
        </p:txBody>
      </p:sp>
      <p:sp>
        <p:nvSpPr>
          <p:cNvPr id="13" name="Rounded Rectangle 12"/>
          <p:cNvSpPr/>
          <p:nvPr/>
        </p:nvSpPr>
        <p:spPr>
          <a:xfrm>
            <a:off x="6172200" y="4764024"/>
            <a:ext cx="5394960" cy="960120"/>
          </a:xfrm>
          <a:prstGeom prst="roundRect">
            <a:avLst>
              <a:gd name="adj" fmla="val 10000"/>
            </a:avLst>
          </a:prstGeom>
          <a:solidFill>
            <a:srgbClr val="E8F0FE"/>
          </a:solidFill>
          <a:ln w="12700">
            <a:solidFill>
              <a:srgbClr val="1E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4901184"/>
            <a:ext cx="209384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3B8F"/>
                </a:solidFill>
              </a:defRPr>
            </a:pPr>
            <a:r>
              <a:rPr dirty="0"/>
              <a:t>Public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rPr b="1" dirty="0"/>
              <a:t>Tryout gratis </a:t>
            </a:r>
            <a:r>
              <a:rPr b="1" dirty="0" err="1"/>
              <a:t>sebagai</a:t>
            </a:r>
            <a:r>
              <a:rPr b="1" dirty="0"/>
              <a:t> funnel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A2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6547104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FDBFE"/>
                </a:solidFill>
              </a:defRPr>
            </a:pPr>
            <a:r>
              <a:t>Pratistha Cendekia Prestasi · CAT Apps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547104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D96A"/>
                </a:solidFill>
              </a:defRPr>
            </a:pPr>
            <a:r>
              <a:t>5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2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Ringkasan Eksekutif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001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FDBFE"/>
                </a:solidFill>
              </a:defRPr>
            </a:pPr>
            <a:r>
              <a:rPr dirty="0"/>
              <a:t>Status </a:t>
            </a:r>
            <a:r>
              <a:rPr dirty="0" err="1"/>
              <a:t>penyelesaian</a:t>
            </a:r>
            <a:r>
              <a:rPr dirty="0"/>
              <a:t> </a:t>
            </a:r>
            <a:r>
              <a:rPr dirty="0" err="1"/>
              <a:t>proyek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257175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E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508760"/>
            <a:ext cx="2571750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229743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123B8F"/>
                </a:solidFill>
              </a:defRPr>
            </a:pPr>
            <a:r>
              <a:t>12/12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91585" y="2240280"/>
            <a:ext cx="137730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F2937"/>
                </a:solidFill>
              </a:defRPr>
            </a:pPr>
            <a:r>
              <a:rPr sz="1600" dirty="0"/>
              <a:t>Modul </a:t>
            </a:r>
            <a:r>
              <a:rPr sz="1600" dirty="0" err="1"/>
              <a:t>Selesai</a:t>
            </a:r>
            <a:endParaRPr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280552" y="2542032"/>
            <a:ext cx="119936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B7280"/>
                </a:solidFill>
              </a:defRPr>
            </a:pPr>
            <a:r>
              <a:rPr sz="1100" b="1" dirty="0" err="1"/>
              <a:t>Ruang</a:t>
            </a:r>
            <a:r>
              <a:rPr sz="1100" b="1" dirty="0"/>
              <a:t> </a:t>
            </a:r>
            <a:r>
              <a:rPr sz="1100" b="1" dirty="0" err="1"/>
              <a:t>lingkup</a:t>
            </a:r>
            <a:r>
              <a:rPr sz="1100" b="1" dirty="0"/>
              <a:t> PK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4710" y="1508760"/>
            <a:ext cx="257175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E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94710" y="1508760"/>
            <a:ext cx="2571750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31870" y="1691640"/>
            <a:ext cx="229743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123B8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24086" y="2240280"/>
            <a:ext cx="111299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F2937"/>
                </a:solidFill>
              </a:defRPr>
            </a:pPr>
            <a:r>
              <a:rPr sz="1600" dirty="0" err="1"/>
              <a:t>Peran</a:t>
            </a:r>
            <a:r>
              <a:rPr sz="1600" dirty="0"/>
              <a:t> User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8165" y="2542032"/>
            <a:ext cx="198483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B7280"/>
                </a:solidFill>
              </a:defRPr>
            </a:pPr>
            <a:r>
              <a:rPr sz="1100" dirty="0"/>
              <a:t>Admin · Mentor · </a:t>
            </a:r>
            <a:r>
              <a:rPr sz="1100" dirty="0" err="1"/>
              <a:t>Peserta</a:t>
            </a:r>
            <a:r>
              <a:rPr sz="1100" dirty="0"/>
              <a:t> · </a:t>
            </a:r>
            <a:r>
              <a:rPr sz="1100" dirty="0" err="1"/>
              <a:t>Ortu</a:t>
            </a:r>
            <a:endParaRPr sz="1100" dirty="0"/>
          </a:p>
        </p:txBody>
      </p:sp>
      <p:sp>
        <p:nvSpPr>
          <p:cNvPr id="16" name="Rounded Rectangle 15"/>
          <p:cNvSpPr/>
          <p:nvPr/>
        </p:nvSpPr>
        <p:spPr>
          <a:xfrm>
            <a:off x="6195060" y="1508760"/>
            <a:ext cx="257175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E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95060" y="1508760"/>
            <a:ext cx="2571750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32220" y="1691640"/>
            <a:ext cx="229743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123B8F"/>
                </a:solidFill>
              </a:defRPr>
            </a:pPr>
            <a:r>
              <a:t>Live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8821" y="2240280"/>
            <a:ext cx="92422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F2937"/>
                </a:solidFill>
              </a:defRPr>
            </a:pPr>
            <a:r>
              <a:rPr sz="1600" dirty="0" err="1"/>
              <a:t>Produksi</a:t>
            </a:r>
            <a:endParaRPr sz="1600" dirty="0"/>
          </a:p>
        </p:txBody>
      </p:sp>
      <p:sp>
        <p:nvSpPr>
          <p:cNvPr id="20" name="TextBox 19"/>
          <p:cNvSpPr txBox="1"/>
          <p:nvPr/>
        </p:nvSpPr>
        <p:spPr>
          <a:xfrm>
            <a:off x="6716944" y="2542032"/>
            <a:ext cx="152798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B7280"/>
                </a:solidFill>
              </a:defRPr>
            </a:pPr>
            <a:r>
              <a:rPr sz="1100" dirty="0" err="1"/>
              <a:t>pratisthaindonesia.com</a:t>
            </a:r>
            <a:endParaRPr sz="1100" dirty="0"/>
          </a:p>
        </p:txBody>
      </p:sp>
      <p:sp>
        <p:nvSpPr>
          <p:cNvPr id="21" name="Rounded Rectangle 20"/>
          <p:cNvSpPr/>
          <p:nvPr/>
        </p:nvSpPr>
        <p:spPr>
          <a:xfrm>
            <a:off x="8995410" y="1508760"/>
            <a:ext cx="257175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E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995410" y="1508760"/>
            <a:ext cx="2571750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32570" y="1691640"/>
            <a:ext cx="229743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123B8F"/>
                </a:solidFill>
              </a:defRPr>
            </a:pPr>
            <a:r>
              <a:t>12 bln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28510" y="2240280"/>
            <a:ext cx="130555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F2937"/>
                </a:solidFill>
              </a:defRPr>
            </a:pPr>
            <a:r>
              <a:rPr sz="1600" dirty="0"/>
              <a:t>Maintenance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05834" y="2542032"/>
            <a:ext cx="95090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B7280"/>
                </a:solidFill>
              </a:defRPr>
            </a:pPr>
            <a:r>
              <a:rPr sz="1100" dirty="0" err="1"/>
              <a:t>s.d.</a:t>
            </a:r>
            <a:r>
              <a:rPr sz="1100" dirty="0"/>
              <a:t> </a:t>
            </a:r>
            <a:r>
              <a:rPr lang="en-US" sz="1100" dirty="0"/>
              <a:t>July</a:t>
            </a:r>
            <a:r>
              <a:rPr sz="1100" dirty="0"/>
              <a:t> 2027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3154680"/>
            <a:ext cx="256032" cy="256032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6A34A"/>
                </a:solidFill>
              </a:defRPr>
            </a:pPr>
            <a: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3136392"/>
            <a:ext cx="4965911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F2937"/>
                </a:solidFill>
              </a:defRPr>
            </a:pPr>
            <a:r>
              <a:rPr b="1" dirty="0" err="1"/>
              <a:t>Arsitektur</a:t>
            </a:r>
            <a:r>
              <a:rPr b="1" dirty="0"/>
              <a:t> modern Laravel 12 + Vue 3 + PostgreSQL + Docker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3630168"/>
            <a:ext cx="256032" cy="256032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6A34A"/>
                </a:solidFill>
              </a:defRPr>
            </a:pPr>
            <a: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3611880"/>
            <a:ext cx="5803512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F2937"/>
                </a:solidFill>
              </a:defRPr>
            </a:pPr>
            <a:r>
              <a:rPr b="1" dirty="0" err="1"/>
              <a:t>Fitur</a:t>
            </a:r>
            <a:r>
              <a:rPr b="1" dirty="0"/>
              <a:t> bonus: portal orang </a:t>
            </a:r>
            <a:r>
              <a:rPr b="1" dirty="0" err="1"/>
              <a:t>tua</a:t>
            </a:r>
            <a:r>
              <a:rPr b="1" dirty="0"/>
              <a:t>, </a:t>
            </a:r>
            <a:r>
              <a:rPr b="1" dirty="0" err="1"/>
              <a:t>sertifikat</a:t>
            </a:r>
            <a:r>
              <a:rPr b="1" dirty="0"/>
              <a:t>, </a:t>
            </a:r>
            <a:r>
              <a:rPr b="1" dirty="0" err="1"/>
              <a:t>PWA</a:t>
            </a:r>
            <a:r>
              <a:rPr b="1" dirty="0"/>
              <a:t>, anti-cheat, multi-</a:t>
            </a:r>
            <a:r>
              <a:rPr b="1" dirty="0" err="1"/>
              <a:t>bahasa</a:t>
            </a:r>
            <a:endParaRPr b="1" dirty="0"/>
          </a:p>
        </p:txBody>
      </p:sp>
      <p:sp>
        <p:nvSpPr>
          <p:cNvPr id="30" name="Rounded Rectangle 29"/>
          <p:cNvSpPr/>
          <p:nvPr/>
        </p:nvSpPr>
        <p:spPr>
          <a:xfrm>
            <a:off x="685800" y="4105656"/>
            <a:ext cx="256032" cy="256032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6A34A"/>
                </a:solidFill>
              </a:defRPr>
            </a:pPr>
            <a: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4087368"/>
            <a:ext cx="4512838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F2937"/>
                </a:solidFill>
              </a:defRPr>
            </a:pPr>
            <a:r>
              <a:rPr b="1" dirty="0" err="1"/>
              <a:t>Semua</a:t>
            </a:r>
            <a:r>
              <a:rPr b="1" dirty="0"/>
              <a:t> </a:t>
            </a:r>
            <a:r>
              <a:rPr b="1" dirty="0" err="1"/>
              <a:t>modul</a:t>
            </a:r>
            <a:r>
              <a:rPr b="1" dirty="0"/>
              <a:t> inti </a:t>
            </a:r>
            <a:r>
              <a:rPr b="1" dirty="0" err="1"/>
              <a:t>telah</a:t>
            </a:r>
            <a:r>
              <a:rPr b="1" dirty="0"/>
              <a:t> di-deploy dan </a:t>
            </a:r>
            <a:r>
              <a:rPr b="1" dirty="0" err="1"/>
              <a:t>siap</a:t>
            </a:r>
            <a:r>
              <a:rPr b="1" dirty="0"/>
              <a:t> </a:t>
            </a:r>
            <a:r>
              <a:rPr b="1" dirty="0" err="1"/>
              <a:t>operasional</a:t>
            </a:r>
            <a:endParaRPr b="1" dirty="0"/>
          </a:p>
        </p:txBody>
      </p:sp>
      <p:sp>
        <p:nvSpPr>
          <p:cNvPr id="32" name="Rectangle 3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A2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6547104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FDBFE"/>
                </a:solidFill>
              </a:defRPr>
            </a:pPr>
            <a:r>
              <a:t>Pratistha Cendekia Prestasi · CAT Apps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547104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D96A"/>
                </a:solidFill>
              </a:defRPr>
            </a:pPr>
            <a:r>
              <a:t>6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4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5A623"/>
                </a:solidFill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Alur &amp; </a:t>
            </a:r>
            <a:r>
              <a:rPr dirty="0" err="1"/>
              <a:t>Peran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822960" y="379476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FDBFE"/>
                </a:solidFill>
              </a:defRPr>
            </a:pPr>
            <a:r>
              <a:t>Bagaimana platform bekerja dari awal sampai akhir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2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Alur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96112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FDBFE"/>
                </a:solidFill>
              </a:defRPr>
            </a:pPr>
            <a:r>
              <a:t>Perjalanan peserta dari beranda hingga laporan orang tua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10515600" cy="566928"/>
          </a:xfrm>
          <a:prstGeom prst="roundRect">
            <a:avLst>
              <a:gd name="adj" fmla="val 10000"/>
            </a:avLst>
          </a:prstGeom>
          <a:solidFill>
            <a:srgbClr val="12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32688" y="1508760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23B8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508760"/>
            <a:ext cx="9784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Beranda Publik + Tryout Gratis</a:t>
            </a:r>
          </a:p>
        </p:txBody>
      </p:sp>
      <p:sp>
        <p:nvSpPr>
          <p:cNvPr id="9" name="Down Arrow 8"/>
          <p:cNvSpPr/>
          <p:nvPr/>
        </p:nvSpPr>
        <p:spPr>
          <a:xfrm>
            <a:off x="5943600" y="2002536"/>
            <a:ext cx="274320" cy="164592"/>
          </a:xfrm>
          <a:prstGeom prst="downArrow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2960" y="2185416"/>
            <a:ext cx="10515600" cy="566928"/>
          </a:xfrm>
          <a:prstGeom prst="roundRect">
            <a:avLst>
              <a:gd name="adj" fmla="val 10000"/>
            </a:avLst>
          </a:prstGeom>
          <a:solidFill>
            <a:srgbClr val="1E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32688" y="2276856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E56C4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276856"/>
            <a:ext cx="9784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Daftar Akun → Verifikasi Email → Pendaftaran Multi-Tahap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943600" y="2770632"/>
            <a:ext cx="274320" cy="164592"/>
          </a:xfrm>
          <a:prstGeom prst="downArrow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2960" y="2953512"/>
            <a:ext cx="10515600" cy="566928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32688" y="3044952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044952"/>
            <a:ext cx="9784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Approval Admin → Dashboard Terbuka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943600" y="3538728"/>
            <a:ext cx="274320" cy="164592"/>
          </a:xfrm>
          <a:prstGeom prst="downArrow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22960" y="3721608"/>
            <a:ext cx="10515600" cy="566928"/>
          </a:xfrm>
          <a:prstGeom prst="roundRect">
            <a:avLst>
              <a:gd name="adj" fmla="val 10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32688" y="3813048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813048"/>
            <a:ext cx="9784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Kelas Saya (materi &amp; quiz) + Ujian Lintas Mapel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5943600" y="4306824"/>
            <a:ext cx="274320" cy="164592"/>
          </a:xfrm>
          <a:prstGeom prst="downArrow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22960" y="4489704"/>
            <a:ext cx="10515600" cy="566928"/>
          </a:xfrm>
          <a:prstGeom prst="roundRect">
            <a:avLst>
              <a:gd name="adj" fmla="val 1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32688" y="4581144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6A34A"/>
                </a:solidFill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581144"/>
            <a:ext cx="9784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Staff Input Nilai Jasmani &amp; Laporan Harian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5943600" y="5074920"/>
            <a:ext cx="274320" cy="164592"/>
          </a:xfrm>
          <a:prstGeom prst="downArrow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22960" y="5257800"/>
            <a:ext cx="10515600" cy="566928"/>
          </a:xfrm>
          <a:prstGeom prst="roundRect">
            <a:avLst>
              <a:gd name="adj" fmla="val 1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32688" y="5349240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5A623"/>
                </a:solidFill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5349240"/>
            <a:ext cx="9784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Orang Tua Pantau Perkembangan &amp; Unduh PDF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A2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6547104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FDBFE"/>
                </a:solidFill>
              </a:defRPr>
            </a:pPr>
            <a:r>
              <a:t>Pratistha Cendekia Prestasi · CAT Apps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547104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D96A"/>
                </a:solidFill>
              </a:defRPr>
            </a:pPr>
            <a:r>
              <a:t>8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2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Peran Pengguna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FDBFE"/>
                </a:solidFill>
              </a:defRPr>
            </a:pPr>
            <a:r>
              <a:rPr dirty="0" err="1"/>
              <a:t>Empat</a:t>
            </a:r>
            <a:r>
              <a:rPr dirty="0"/>
              <a:t> role </a:t>
            </a:r>
            <a:r>
              <a:rPr dirty="0" err="1"/>
              <a:t>dengan</a:t>
            </a:r>
            <a:r>
              <a:rPr dirty="0"/>
              <a:t> </a:t>
            </a:r>
            <a:r>
              <a:rPr dirty="0" err="1"/>
              <a:t>hak</a:t>
            </a:r>
            <a:r>
              <a:rPr dirty="0"/>
              <a:t> </a:t>
            </a:r>
            <a:r>
              <a:rPr dirty="0" err="1"/>
              <a:t>akses</a:t>
            </a:r>
            <a:r>
              <a:rPr dirty="0"/>
              <a:t> </a:t>
            </a:r>
            <a:r>
              <a:rPr dirty="0" err="1"/>
              <a:t>berbeda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3949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539496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77240" y="1490472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7C3AED"/>
                </a:solidFill>
              </a:defRPr>
            </a:pPr>
            <a: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527048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03120"/>
            <a:ext cx="4874219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b="1" dirty="0" err="1"/>
              <a:t>Kelola</a:t>
            </a:r>
            <a:r>
              <a:rPr b="1" dirty="0"/>
              <a:t> platform</a:t>
            </a:r>
            <a:r>
              <a:rPr lang="en-US" b="1" dirty="0"/>
              <a:t> </a:t>
            </a:r>
            <a:r>
              <a:rPr lang="en-US" b="1" dirty="0" err="1"/>
              <a:t>baik</a:t>
            </a:r>
            <a:r>
              <a:rPr lang="en-US" b="1" dirty="0"/>
              <a:t> </a:t>
            </a:r>
            <a:r>
              <a:rPr lang="en-US" b="1" dirty="0" err="1"/>
              <a:t>itu</a:t>
            </a:r>
            <a:r>
              <a:rPr lang="en-US" b="1" dirty="0"/>
              <a:t> </a:t>
            </a:r>
            <a:r>
              <a:rPr lang="en-US" b="1" dirty="0" err="1"/>
              <a:t>ujian</a:t>
            </a:r>
            <a:r>
              <a:rPr lang="en-US" b="1" dirty="0"/>
              <a:t> </a:t>
            </a:r>
            <a:r>
              <a:rPr lang="en-US" b="1" dirty="0" err="1"/>
              <a:t>berbasis</a:t>
            </a:r>
            <a:r>
              <a:rPr lang="en-US" b="1" dirty="0"/>
              <a:t> CAT </a:t>
            </a:r>
            <a:r>
              <a:rPr lang="en-US" b="1" dirty="0" err="1"/>
              <a:t>atau</a:t>
            </a:r>
            <a:r>
              <a:rPr lang="en-US" b="1" dirty="0"/>
              <a:t> Quiz pada </a:t>
            </a:r>
            <a:r>
              <a:rPr lang="en-US" b="1" dirty="0" err="1"/>
              <a:t>tiap</a:t>
            </a:r>
            <a:r>
              <a:rPr lang="en-US" b="1" dirty="0"/>
              <a:t> </a:t>
            </a:r>
            <a:br>
              <a:rPr lang="en-US" b="1" dirty="0"/>
            </a:br>
            <a:r>
              <a:rPr lang="en-US" b="1" dirty="0" err="1"/>
              <a:t>mata</a:t>
            </a:r>
            <a:r>
              <a:rPr lang="en-US" b="1" dirty="0"/>
              <a:t> </a:t>
            </a:r>
            <a:r>
              <a:rPr lang="en-US" b="1" dirty="0" err="1"/>
              <a:t>pelajaran</a:t>
            </a:r>
            <a:r>
              <a:rPr lang="en-US" b="1" dirty="0"/>
              <a:t> yang </a:t>
            </a:r>
            <a:r>
              <a:rPr lang="en-US" b="1" dirty="0" err="1"/>
              <a:t>akan</a:t>
            </a:r>
            <a:r>
              <a:rPr lang="en-US" b="1" dirty="0"/>
              <a:t> </a:t>
            </a:r>
            <a:r>
              <a:rPr lang="en-US" b="1" dirty="0" err="1"/>
              <a:t>peserta</a:t>
            </a:r>
            <a:r>
              <a:rPr lang="en-US" b="1" dirty="0"/>
              <a:t> </a:t>
            </a:r>
            <a:r>
              <a:rPr lang="en-US" b="1" dirty="0" err="1"/>
              <a:t>gunakan</a:t>
            </a:r>
            <a:r>
              <a:rPr b="1" dirty="0"/>
              <a:t>, </a:t>
            </a:r>
            <a:r>
              <a:rPr lang="en-US" b="1" dirty="0"/>
              <a:t>management </a:t>
            </a:r>
            <a:r>
              <a:rPr b="1" dirty="0"/>
              <a:t>user, </a:t>
            </a:r>
            <a:br>
              <a:rPr lang="en-US" b="1" dirty="0"/>
            </a:br>
            <a:r>
              <a:rPr lang="en-US" b="1" dirty="0"/>
              <a:t>dan review </a:t>
            </a:r>
            <a:r>
              <a:rPr lang="en-US" b="1" dirty="0" err="1"/>
              <a:t>pendaftaran</a:t>
            </a:r>
            <a:r>
              <a:rPr lang="en-US" b="1" dirty="0"/>
              <a:t> </a:t>
            </a:r>
            <a:r>
              <a:rPr lang="en-US" b="1" dirty="0" err="1"/>
              <a:t>peserta</a:t>
            </a:r>
            <a:r>
              <a:rPr lang="en-US" b="1" dirty="0"/>
              <a:t> </a:t>
            </a:r>
            <a:r>
              <a:rPr lang="en-US" b="1" dirty="0" err="1"/>
              <a:t>kursus</a:t>
            </a:r>
            <a:endParaRPr b="1" dirty="0"/>
          </a:p>
        </p:txBody>
      </p:sp>
      <p:sp>
        <p:nvSpPr>
          <p:cNvPr id="11" name="Rounded Rectangle 10"/>
          <p:cNvSpPr/>
          <p:nvPr/>
        </p:nvSpPr>
        <p:spPr>
          <a:xfrm>
            <a:off x="6172200" y="1417320"/>
            <a:ext cx="53949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417320"/>
            <a:ext cx="5394960" cy="5029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355080" y="1490472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527048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Mentor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03120"/>
            <a:ext cx="497508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lang="en-US" b="1" dirty="0" err="1"/>
              <a:t>Mengelola</a:t>
            </a:r>
            <a:r>
              <a:rPr lang="en-US" b="1" dirty="0"/>
              <a:t> </a:t>
            </a:r>
            <a:r>
              <a:rPr b="1" dirty="0"/>
              <a:t>Kelas</a:t>
            </a:r>
            <a:r>
              <a:rPr lang="en-US" b="1" dirty="0"/>
              <a:t> dan </a:t>
            </a:r>
            <a:r>
              <a:rPr b="1" dirty="0"/>
              <a:t>bank </a:t>
            </a:r>
            <a:r>
              <a:rPr b="1" dirty="0" err="1"/>
              <a:t>soal</a:t>
            </a:r>
            <a:r>
              <a:rPr b="1" dirty="0"/>
              <a:t>, </a:t>
            </a:r>
            <a:r>
              <a:rPr lang="en-US" b="1" dirty="0" err="1"/>
              <a:t>memberikan</a:t>
            </a:r>
            <a:r>
              <a:rPr lang="en-US" b="1" dirty="0"/>
              <a:t> </a:t>
            </a:r>
            <a:r>
              <a:rPr lang="en-US" b="1" dirty="0" err="1"/>
              <a:t>penilaian</a:t>
            </a:r>
            <a:r>
              <a:rPr lang="en-US" b="1" dirty="0"/>
              <a:t> pada </a:t>
            </a:r>
            <a:r>
              <a:rPr lang="en-US" b="1" dirty="0" err="1"/>
              <a:t>tiap</a:t>
            </a:r>
            <a:br>
              <a:rPr lang="en-US" b="1" dirty="0"/>
            </a:br>
            <a:r>
              <a:rPr lang="en-US" b="1" dirty="0" err="1"/>
              <a:t>peserta</a:t>
            </a:r>
            <a:r>
              <a:rPr b="1" dirty="0"/>
              <a:t>, </a:t>
            </a:r>
            <a:r>
              <a:rPr lang="en-US" b="1" dirty="0" err="1"/>
              <a:t>serta</a:t>
            </a:r>
            <a:r>
              <a:rPr lang="en-US" b="1" dirty="0"/>
              <a:t> </a:t>
            </a:r>
            <a:r>
              <a:rPr lang="en-US" b="1" dirty="0" err="1"/>
              <a:t>membuat</a:t>
            </a:r>
            <a:r>
              <a:rPr lang="en-US" b="1" dirty="0"/>
              <a:t> </a:t>
            </a:r>
            <a:r>
              <a:rPr b="1" dirty="0" err="1"/>
              <a:t>laporan</a:t>
            </a:r>
            <a:r>
              <a:rPr b="1" dirty="0"/>
              <a:t> </a:t>
            </a:r>
            <a:r>
              <a:rPr b="1" dirty="0" err="1"/>
              <a:t>harian</a:t>
            </a:r>
            <a:endParaRPr b="1" dirty="0"/>
          </a:p>
        </p:txBody>
      </p:sp>
      <p:sp>
        <p:nvSpPr>
          <p:cNvPr id="16" name="Rounded Rectangle 15"/>
          <p:cNvSpPr/>
          <p:nvPr/>
        </p:nvSpPr>
        <p:spPr>
          <a:xfrm>
            <a:off x="594360" y="3703320"/>
            <a:ext cx="53949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4360" y="3703320"/>
            <a:ext cx="5394960" cy="502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77240" y="3776472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6A34A"/>
                </a:solidFill>
              </a:defRPr>
            </a:pPr>
            <a:r>
              <a:t>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813048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Peserta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389120"/>
            <a:ext cx="524605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b="1" dirty="0" err="1"/>
              <a:t>Pendaftaran</a:t>
            </a:r>
            <a:r>
              <a:rPr lang="en-US" b="1" dirty="0"/>
              <a:t> </a:t>
            </a:r>
            <a:r>
              <a:rPr lang="en-US" b="1" dirty="0" err="1"/>
              <a:t>kelas</a:t>
            </a:r>
            <a:r>
              <a:rPr lang="en-US" b="1" dirty="0"/>
              <a:t> </a:t>
            </a:r>
            <a:r>
              <a:rPr lang="en-US" b="1" dirty="0" err="1"/>
              <a:t>kursus</a:t>
            </a:r>
            <a:r>
              <a:rPr b="1" dirty="0"/>
              <a:t>, </a:t>
            </a:r>
            <a:r>
              <a:rPr b="1" dirty="0" err="1"/>
              <a:t>kelas</a:t>
            </a:r>
            <a:r>
              <a:rPr lang="en-US" b="1" dirty="0"/>
              <a:t> </a:t>
            </a:r>
            <a:r>
              <a:rPr lang="en-US" b="1" dirty="0" err="1"/>
              <a:t>sesuai</a:t>
            </a:r>
            <a:r>
              <a:rPr lang="en-US" b="1" dirty="0"/>
              <a:t> </a:t>
            </a:r>
            <a:r>
              <a:rPr lang="en-US" b="1" dirty="0" err="1"/>
              <a:t>dengan</a:t>
            </a:r>
            <a:r>
              <a:rPr lang="en-US" b="1" dirty="0"/>
              <a:t> yang </a:t>
            </a:r>
            <a:r>
              <a:rPr lang="en-US" b="1" dirty="0" err="1"/>
              <a:t>diminati</a:t>
            </a:r>
            <a:r>
              <a:rPr lang="en-US" b="1" dirty="0"/>
              <a:t> </a:t>
            </a:r>
            <a:r>
              <a:rPr lang="en-US" b="1" dirty="0" err="1"/>
              <a:t>peserta</a:t>
            </a:r>
            <a:br>
              <a:rPr lang="en-US" b="1" dirty="0"/>
            </a:br>
            <a:r>
              <a:rPr b="1" dirty="0"/>
              <a:t>, </a:t>
            </a:r>
            <a:r>
              <a:rPr lang="en-US" b="1" dirty="0"/>
              <a:t>Kelas dan </a:t>
            </a:r>
            <a:r>
              <a:rPr b="1" dirty="0"/>
              <a:t>quiz, </a:t>
            </a:r>
            <a:r>
              <a:rPr lang="en-US" b="1" dirty="0"/>
              <a:t>Kelas </a:t>
            </a:r>
            <a:r>
              <a:rPr b="1" dirty="0" err="1"/>
              <a:t>ujian</a:t>
            </a:r>
            <a:r>
              <a:rPr b="1" dirty="0"/>
              <a:t>, dashboard</a:t>
            </a:r>
            <a:r>
              <a:rPr lang="en-US" b="1" dirty="0"/>
              <a:t> </a:t>
            </a:r>
            <a:r>
              <a:rPr lang="en-US" b="1" dirty="0" err="1"/>
              <a:t>peserta</a:t>
            </a:r>
            <a:endParaRPr b="1" dirty="0"/>
          </a:p>
        </p:txBody>
      </p:sp>
      <p:sp>
        <p:nvSpPr>
          <p:cNvPr id="21" name="Rounded Rectangle 20"/>
          <p:cNvSpPr/>
          <p:nvPr/>
        </p:nvSpPr>
        <p:spPr>
          <a:xfrm>
            <a:off x="6172200" y="3703320"/>
            <a:ext cx="53949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72200" y="3703320"/>
            <a:ext cx="5394960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355080" y="3776472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5A623"/>
                </a:solidFill>
              </a:defRPr>
            </a:pPr>
            <a:r>
              <a:t>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813048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Orang Tua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389120"/>
            <a:ext cx="343895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b="1" dirty="0" err="1"/>
              <a:t>Pantau</a:t>
            </a:r>
            <a:r>
              <a:rPr b="1" dirty="0"/>
              <a:t> </a:t>
            </a:r>
            <a:r>
              <a:rPr b="1" dirty="0" err="1"/>
              <a:t>anak</a:t>
            </a:r>
            <a:r>
              <a:rPr b="1" dirty="0"/>
              <a:t>, </a:t>
            </a:r>
            <a:r>
              <a:rPr b="1" dirty="0" err="1"/>
              <a:t>laporan</a:t>
            </a:r>
            <a:r>
              <a:rPr b="1" dirty="0"/>
              <a:t> </a:t>
            </a:r>
            <a:r>
              <a:rPr b="1" dirty="0" err="1"/>
              <a:t>mingguan</a:t>
            </a:r>
            <a:r>
              <a:rPr b="1" dirty="0"/>
              <a:t>, </a:t>
            </a:r>
            <a:r>
              <a:rPr b="1" dirty="0" err="1"/>
              <a:t>unduh</a:t>
            </a:r>
            <a:r>
              <a:rPr b="1" dirty="0"/>
              <a:t> PDF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A2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6547104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FDBFE"/>
                </a:solidFill>
              </a:defRPr>
            </a:pPr>
            <a:r>
              <a:t>Pratistha Cendekia Prestasi · CAT Apps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547104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D96A"/>
                </a:solidFill>
              </a:defRPr>
            </a:pPr>
            <a:r>
              <a:t>9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2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Spesifikasi Teknis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13816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FDBFE"/>
                </a:solidFill>
              </a:defRPr>
            </a:pPr>
            <a:r>
              <a:rPr dirty="0" err="1"/>
              <a:t>Arsitektur</a:t>
            </a:r>
            <a:r>
              <a:rPr dirty="0"/>
              <a:t> modern &amp; scalable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3520440" cy="1691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2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109728" cy="1691640"/>
          </a:xfrm>
          <a:prstGeom prst="rect">
            <a:avLst/>
          </a:prstGeom>
          <a:solidFill>
            <a:srgbClr val="12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1042593" cy="9079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3B8F"/>
                </a:solidFill>
              </a:defRPr>
            </a:pPr>
            <a:r>
              <a:rPr dirty="0"/>
              <a:t>Backend</a:t>
            </a:r>
          </a:p>
          <a:p>
            <a:pPr>
              <a:spcBef>
                <a:spcPts val="600"/>
              </a:spcBef>
              <a:defRPr sz="1200">
                <a:solidFill>
                  <a:srgbClr val="1F2937"/>
                </a:solidFill>
              </a:defRPr>
            </a:pPr>
            <a:r>
              <a:rPr sz="1600" b="1" dirty="0"/>
              <a:t>Laravel 12</a:t>
            </a:r>
            <a:br>
              <a:rPr sz="1600" b="1" dirty="0"/>
            </a:br>
            <a:r>
              <a:rPr sz="1600" b="1" dirty="0"/>
              <a:t>PHP 8.2+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520440" cy="1691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417320"/>
            <a:ext cx="109728" cy="1691640"/>
          </a:xfrm>
          <a:prstGeom prst="rect">
            <a:avLst/>
          </a:prstGeom>
          <a:solidFill>
            <a:srgbClr val="1E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1645920"/>
            <a:ext cx="1602233" cy="9079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56C4"/>
                </a:solidFill>
              </a:defRPr>
            </a:pPr>
            <a:r>
              <a:rPr dirty="0"/>
              <a:t>Frontend</a:t>
            </a:r>
          </a:p>
          <a:p>
            <a:pPr>
              <a:spcBef>
                <a:spcPts val="600"/>
              </a:spcBef>
              <a:defRPr sz="1200">
                <a:solidFill>
                  <a:srgbClr val="1F2937"/>
                </a:solidFill>
              </a:defRPr>
            </a:pPr>
            <a:r>
              <a:rPr sz="1600" b="1" dirty="0"/>
              <a:t>Vue 3 · </a:t>
            </a:r>
            <a:r>
              <a:rPr sz="1600" b="1" dirty="0" err="1"/>
              <a:t>Pinia</a:t>
            </a:r>
            <a:br>
              <a:rPr sz="1600" b="1" dirty="0"/>
            </a:br>
            <a:r>
              <a:rPr sz="1600" b="1" dirty="0"/>
              <a:t>Tailwind 4 · </a:t>
            </a:r>
            <a:r>
              <a:rPr sz="1600" b="1" dirty="0" err="1"/>
              <a:t>PWA</a:t>
            </a:r>
            <a:endParaRPr sz="1600" b="1" dirty="0"/>
          </a:p>
        </p:txBody>
      </p:sp>
      <p:sp>
        <p:nvSpPr>
          <p:cNvPr id="12" name="Rounded Rectangle 11"/>
          <p:cNvSpPr/>
          <p:nvPr/>
        </p:nvSpPr>
        <p:spPr>
          <a:xfrm>
            <a:off x="8183880" y="1417320"/>
            <a:ext cx="3520440" cy="1691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83880" y="1417320"/>
            <a:ext cx="109728" cy="1691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58200" y="1645920"/>
            <a:ext cx="1215076" cy="9079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A5E9"/>
                </a:solidFill>
              </a:defRPr>
            </a:pPr>
            <a:r>
              <a:rPr dirty="0"/>
              <a:t>Database</a:t>
            </a:r>
          </a:p>
          <a:p>
            <a:pPr>
              <a:spcBef>
                <a:spcPts val="600"/>
              </a:spcBef>
              <a:defRPr sz="1200">
                <a:solidFill>
                  <a:srgbClr val="1F2937"/>
                </a:solidFill>
              </a:defRPr>
            </a:pPr>
            <a:r>
              <a:rPr sz="1600" b="1" dirty="0"/>
              <a:t>PostgreSQL</a:t>
            </a:r>
            <a:br>
              <a:rPr sz="1600" b="1" dirty="0"/>
            </a:br>
            <a:r>
              <a:rPr sz="1600" b="1" dirty="0"/>
              <a:t>SQLite (dev)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364991"/>
            <a:ext cx="3520440" cy="1691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94360" y="3364991"/>
            <a:ext cx="109728" cy="16916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3593591"/>
            <a:ext cx="1331711" cy="9079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A34A"/>
                </a:solidFill>
              </a:defRPr>
            </a:pPr>
            <a:r>
              <a:rPr dirty="0"/>
              <a:t>Storage</a:t>
            </a:r>
          </a:p>
          <a:p>
            <a:pPr>
              <a:spcBef>
                <a:spcPts val="600"/>
              </a:spcBef>
              <a:defRPr sz="1200">
                <a:solidFill>
                  <a:srgbClr val="1F2937"/>
                </a:solidFill>
              </a:defRPr>
            </a:pPr>
            <a:r>
              <a:rPr sz="1600" b="1" dirty="0"/>
              <a:t>Cloudflare </a:t>
            </a:r>
            <a:r>
              <a:rPr sz="1600" b="1" dirty="0" err="1"/>
              <a:t>R2</a:t>
            </a:r>
            <a:br>
              <a:rPr sz="1600" b="1" dirty="0"/>
            </a:br>
            <a:r>
              <a:rPr sz="1600" b="1" dirty="0" err="1"/>
              <a:t>Berkas</a:t>
            </a:r>
            <a:r>
              <a:rPr sz="1600" b="1" dirty="0"/>
              <a:t> </a:t>
            </a:r>
            <a:r>
              <a:rPr sz="1600" b="1" dirty="0" err="1"/>
              <a:t>privat</a:t>
            </a:r>
            <a:endParaRPr sz="1600" b="1" dirty="0"/>
          </a:p>
        </p:txBody>
      </p:sp>
      <p:sp>
        <p:nvSpPr>
          <p:cNvPr id="18" name="Rounded Rectangle 17"/>
          <p:cNvSpPr/>
          <p:nvPr/>
        </p:nvSpPr>
        <p:spPr>
          <a:xfrm>
            <a:off x="4389120" y="3364991"/>
            <a:ext cx="3520440" cy="1691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89120" y="3364991"/>
            <a:ext cx="109728" cy="1691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63440" y="3593591"/>
            <a:ext cx="1587999" cy="9079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7C3AED"/>
                </a:solidFill>
              </a:defRPr>
            </a:pPr>
            <a:r>
              <a:rPr dirty="0"/>
              <a:t>Deploy</a:t>
            </a:r>
          </a:p>
          <a:p>
            <a:pPr>
              <a:spcBef>
                <a:spcPts val="600"/>
              </a:spcBef>
              <a:defRPr sz="1200">
                <a:solidFill>
                  <a:srgbClr val="1F2937"/>
                </a:solidFill>
              </a:defRPr>
            </a:pPr>
            <a:r>
              <a:rPr sz="1600" b="1" dirty="0"/>
              <a:t>Docker · </a:t>
            </a:r>
            <a:r>
              <a:rPr sz="1600" b="1" dirty="0" err="1"/>
              <a:t>Coolify</a:t>
            </a:r>
            <a:br>
              <a:rPr sz="1600" b="1" dirty="0"/>
            </a:br>
            <a:r>
              <a:rPr sz="1600" b="1" dirty="0"/>
              <a:t>Apache · Backup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80" y="3364991"/>
            <a:ext cx="3520440" cy="1691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183880" y="3364991"/>
            <a:ext cx="109728" cy="1691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58200" y="3593591"/>
            <a:ext cx="1562864" cy="9079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A623"/>
                </a:solidFill>
              </a:defRPr>
            </a:pPr>
            <a:r>
              <a:rPr dirty="0" err="1"/>
              <a:t>Keamanan</a:t>
            </a:r>
            <a:endParaRPr dirty="0"/>
          </a:p>
          <a:p>
            <a:pPr>
              <a:spcBef>
                <a:spcPts val="600"/>
              </a:spcBef>
              <a:defRPr sz="1200">
                <a:solidFill>
                  <a:srgbClr val="1F2937"/>
                </a:solidFill>
              </a:defRPr>
            </a:pPr>
            <a:r>
              <a:rPr sz="1600" b="1" dirty="0" err="1"/>
              <a:t>CSRF</a:t>
            </a:r>
            <a:r>
              <a:rPr sz="1600" b="1" dirty="0"/>
              <a:t> · Role auth</a:t>
            </a:r>
            <a:br>
              <a:rPr sz="1600" b="1" dirty="0"/>
            </a:br>
            <a:r>
              <a:rPr sz="1600" b="1" dirty="0"/>
              <a:t>Email verify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A2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6547104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FDBFE"/>
                </a:solidFill>
              </a:defRPr>
            </a:pPr>
            <a:r>
              <a:t>Pratistha Cendekia Prestasi · CAT Apps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547104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D96A"/>
                </a:solidFill>
              </a:defRPr>
            </a:pPr>
            <a:r>
              <a:t>10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4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5A623"/>
                </a:solidFill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Modul Aplikasi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9476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FDBFE"/>
                </a:solidFill>
              </a:defRPr>
            </a:pPr>
            <a:r>
              <a:t>12 poin ruang lingkup pekerjaan — status selesai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2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Ruang Lingkup — 12 Modul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0673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FDBFE"/>
                </a:solidFill>
              </a:defRPr>
            </a:pPr>
            <a:r>
              <a:rPr dirty="0" err="1"/>
              <a:t>Semua</a:t>
            </a:r>
            <a:r>
              <a:rPr dirty="0"/>
              <a:t> </a:t>
            </a:r>
            <a:r>
              <a:rPr dirty="0" err="1"/>
              <a:t>modul</a:t>
            </a:r>
            <a:r>
              <a:rPr dirty="0"/>
              <a:t> inti </a:t>
            </a:r>
            <a:r>
              <a:rPr dirty="0" err="1"/>
              <a:t>telah</a:t>
            </a:r>
            <a:r>
              <a:rPr dirty="0"/>
              <a:t> </a:t>
            </a:r>
            <a:r>
              <a:rPr dirty="0" err="1"/>
              <a:t>diselesaikan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260604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04088" y="1527048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12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554480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937"/>
                </a:solidFill>
              </a:defRPr>
            </a:pPr>
            <a:r>
              <a:t>Manajemen Soal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" y="2075688"/>
            <a:ext cx="914400" cy="256032"/>
          </a:xfrm>
          <a:prstGeom prst="roundRect">
            <a:avLst>
              <a:gd name="adj" fmla="val 30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16A34A"/>
                </a:solidFill>
              </a:defRPr>
            </a:pPr>
            <a:r>
              <a:t>Selesai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417320"/>
            <a:ext cx="260604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511296" y="1527048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12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95928" y="1554480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937"/>
                </a:solidFill>
              </a:defRPr>
            </a:pPr>
            <a:r>
              <a:t>Ujian Online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11296" y="2075688"/>
            <a:ext cx="914400" cy="256032"/>
          </a:xfrm>
          <a:prstGeom prst="roundRect">
            <a:avLst>
              <a:gd name="adj" fmla="val 30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16A34A"/>
                </a:solidFill>
              </a:defRPr>
            </a:pPr>
            <a:r>
              <a:t>Selesai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417320"/>
            <a:ext cx="260604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318504" y="1527048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12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03136" y="1554480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937"/>
                </a:solidFill>
              </a:defRPr>
            </a:pPr>
            <a:r>
              <a:t>Pendaftaran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18504" y="2075688"/>
            <a:ext cx="914400" cy="256032"/>
          </a:xfrm>
          <a:prstGeom prst="roundRect">
            <a:avLst>
              <a:gd name="adj" fmla="val 30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16A34A"/>
                </a:solidFill>
              </a:defRPr>
            </a:pPr>
            <a:r>
              <a:t>Selesai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15984" y="1417320"/>
            <a:ext cx="260604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125712" y="1527048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12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10344" y="1554480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937"/>
                </a:solidFill>
              </a:defRPr>
            </a:pPr>
            <a:r>
              <a:t>Tryout Gratis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25712" y="2075688"/>
            <a:ext cx="914400" cy="256032"/>
          </a:xfrm>
          <a:prstGeom prst="roundRect">
            <a:avLst>
              <a:gd name="adj" fmla="val 30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16A34A"/>
                </a:solidFill>
              </a:defRPr>
            </a:pPr>
            <a:r>
              <a:t>Selesai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2670048"/>
            <a:ext cx="260604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04088" y="2779776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12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2807208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937"/>
                </a:solidFill>
              </a:defRPr>
            </a:pPr>
            <a:r>
              <a:t>Penilaian Otomatis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4088" y="3328415"/>
            <a:ext cx="914400" cy="256032"/>
          </a:xfrm>
          <a:prstGeom prst="roundRect">
            <a:avLst>
              <a:gd name="adj" fmla="val 30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16A34A"/>
                </a:solidFill>
              </a:defRPr>
            </a:pPr>
            <a:r>
              <a:t>Selesai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01568" y="2670048"/>
            <a:ext cx="260604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3511296" y="2779776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12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95928" y="2807208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937"/>
                </a:solidFill>
              </a:defRPr>
            </a:pPr>
            <a:r>
              <a:t>Dashboard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11296" y="3328415"/>
            <a:ext cx="914400" cy="256032"/>
          </a:xfrm>
          <a:prstGeom prst="roundRect">
            <a:avLst>
              <a:gd name="adj" fmla="val 30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16A34A"/>
                </a:solidFill>
              </a:defRPr>
            </a:pPr>
            <a:r>
              <a:t>Selesai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8776" y="2670048"/>
            <a:ext cx="260604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318504" y="2779776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12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03136" y="2807208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937"/>
                </a:solidFill>
              </a:defRPr>
            </a:pPr>
            <a:r>
              <a:t>Offline &amp; Online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18504" y="3328415"/>
            <a:ext cx="914400" cy="256032"/>
          </a:xfrm>
          <a:prstGeom prst="roundRect">
            <a:avLst>
              <a:gd name="adj" fmla="val 30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16A34A"/>
                </a:solidFill>
              </a:defRPr>
            </a:pPr>
            <a:r>
              <a:t>Selesai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15984" y="2670048"/>
            <a:ext cx="260604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9125712" y="2779776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12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10344" y="2807208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937"/>
                </a:solidFill>
              </a:defRPr>
            </a:pPr>
            <a:r>
              <a:t>Manajemen User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25712" y="3328415"/>
            <a:ext cx="914400" cy="256032"/>
          </a:xfrm>
          <a:prstGeom prst="roundRect">
            <a:avLst>
              <a:gd name="adj" fmla="val 30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16A34A"/>
                </a:solidFill>
              </a:defRPr>
            </a:pPr>
            <a:r>
              <a:t>Selesai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3922776"/>
            <a:ext cx="260604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704088" y="4032504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12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8720" y="4059936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937"/>
                </a:solidFill>
              </a:defRPr>
            </a:pPr>
            <a:r>
              <a:t>Kelas Online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04088" y="4581144"/>
            <a:ext cx="914400" cy="256032"/>
          </a:xfrm>
          <a:prstGeom prst="roundRect">
            <a:avLst>
              <a:gd name="adj" fmla="val 30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16A34A"/>
                </a:solidFill>
              </a:defRPr>
            </a:pPr>
            <a:r>
              <a:t>Selesai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01568" y="3922776"/>
            <a:ext cx="260604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3511296" y="4032504"/>
            <a:ext cx="484632" cy="411480"/>
          </a:xfrm>
          <a:prstGeom prst="roundRect">
            <a:avLst>
              <a:gd name="adj" fmla="val 20000"/>
            </a:avLst>
          </a:prstGeom>
          <a:solidFill>
            <a:srgbClr val="12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95928" y="4059936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937"/>
                </a:solidFill>
              </a:defRPr>
            </a:pPr>
            <a:r>
              <a:t>Bank Soal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511296" y="4581144"/>
            <a:ext cx="914400" cy="256032"/>
          </a:xfrm>
          <a:prstGeom prst="roundRect">
            <a:avLst>
              <a:gd name="adj" fmla="val 30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16A34A"/>
                </a:solidFill>
              </a:defRPr>
            </a:pPr>
            <a:r>
              <a:t>Selesai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08776" y="3922776"/>
            <a:ext cx="260604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6318504" y="4032504"/>
            <a:ext cx="484632" cy="411480"/>
          </a:xfrm>
          <a:prstGeom prst="roundRect">
            <a:avLst>
              <a:gd name="adj" fmla="val 20000"/>
            </a:avLst>
          </a:prstGeom>
          <a:solidFill>
            <a:srgbClr val="12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11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03136" y="4059936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937"/>
                </a:solidFill>
              </a:defRPr>
            </a:pPr>
            <a:r>
              <a:t>Laporan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18504" y="4581144"/>
            <a:ext cx="914400" cy="256032"/>
          </a:xfrm>
          <a:prstGeom prst="roundRect">
            <a:avLst>
              <a:gd name="adj" fmla="val 30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16A34A"/>
                </a:solidFill>
              </a:defRPr>
            </a:pPr>
            <a:r>
              <a:t>Selesai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015984" y="3922776"/>
            <a:ext cx="260604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9125712" y="4032504"/>
            <a:ext cx="484632" cy="411480"/>
          </a:xfrm>
          <a:prstGeom prst="roundRect">
            <a:avLst>
              <a:gd name="adj" fmla="val 20000"/>
            </a:avLst>
          </a:prstGeom>
          <a:solidFill>
            <a:srgbClr val="12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12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10344" y="4059936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937"/>
                </a:solidFill>
              </a:defRPr>
            </a:pPr>
            <a:r>
              <a:t>Cloud &amp; Email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125712" y="4581144"/>
            <a:ext cx="914400" cy="256032"/>
          </a:xfrm>
          <a:prstGeom prst="roundRect">
            <a:avLst>
              <a:gd name="adj" fmla="val 30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16A34A"/>
                </a:solidFill>
              </a:defRPr>
            </a:pPr>
            <a:r>
              <a:t>Selesai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" y="59893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* Selesai dengan catatan teknis minor — dijelaskan di slide catatan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A2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57200" y="6547104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FDBFE"/>
                </a:solidFill>
              </a:defRPr>
            </a:pPr>
            <a:r>
              <a:t>Pratistha Cendekia Prestasi · CAT Apps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15600" y="6547104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D96A"/>
                </a:solidFill>
              </a:defRPr>
            </a:pPr>
            <a:r>
              <a:t>12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2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Modul 1–2 · Soal &amp; Ujian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539496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04088" y="1673351"/>
            <a:ext cx="384048" cy="384048"/>
          </a:xfrm>
          <a:prstGeom prst="ellipse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1F2937"/>
                </a:solidFill>
              </a:defRPr>
            </a:pPr>
            <a:r>
              <a:t>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746504"/>
            <a:ext cx="4709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rPr dirty="0"/>
              <a:t>Bank </a:t>
            </a:r>
            <a:r>
              <a:rPr dirty="0" err="1"/>
              <a:t>soal</a:t>
            </a:r>
            <a:r>
              <a:rPr dirty="0"/>
              <a:t> PG &amp; </a:t>
            </a:r>
            <a:r>
              <a:rPr dirty="0" err="1"/>
              <a:t>esai</a:t>
            </a:r>
            <a:r>
              <a:rPr dirty="0"/>
              <a:t> </a:t>
            </a:r>
            <a:r>
              <a:rPr dirty="0" err="1"/>
              <a:t>dengan</a:t>
            </a:r>
            <a:r>
              <a:rPr dirty="0"/>
              <a:t> </a:t>
            </a:r>
            <a:r>
              <a:rPr dirty="0" err="1"/>
              <a:t>kategori</a:t>
            </a:r>
            <a:r>
              <a:rPr dirty="0"/>
              <a:t> </a:t>
            </a:r>
            <a:r>
              <a:rPr dirty="0" err="1"/>
              <a:t>mapel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594360" y="3429000"/>
            <a:ext cx="539496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04088" y="3593593"/>
            <a:ext cx="384048" cy="384048"/>
          </a:xfrm>
          <a:prstGeom prst="ellipse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1F2937"/>
                </a:solidFill>
              </a:defRPr>
            </a:pPr>
            <a:r>
              <a:t>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661410"/>
            <a:ext cx="4709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t>Timer, jadwal, anti-cheat, acak urutan soal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519934"/>
            <a:ext cx="539496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419088" y="2684525"/>
            <a:ext cx="384048" cy="384048"/>
          </a:xfrm>
          <a:prstGeom prst="ellipse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1F2937"/>
                </a:solidFill>
              </a:defRPr>
            </a:pPr>
            <a:r>
              <a:t>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2725674"/>
            <a:ext cx="4709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rPr dirty="0"/>
              <a:t>Quiz </a:t>
            </a:r>
            <a:r>
              <a:rPr dirty="0" err="1"/>
              <a:t>kelas</a:t>
            </a:r>
            <a:r>
              <a:rPr dirty="0"/>
              <a:t> + </a:t>
            </a:r>
            <a:r>
              <a:rPr dirty="0" err="1"/>
              <a:t>ujian</a:t>
            </a:r>
            <a:r>
              <a:rPr dirty="0"/>
              <a:t> formal </a:t>
            </a:r>
            <a:r>
              <a:rPr dirty="0" err="1"/>
              <a:t>lintas</a:t>
            </a:r>
            <a:r>
              <a:rPr dirty="0"/>
              <a:t> </a:t>
            </a:r>
            <a:r>
              <a:rPr dirty="0" err="1"/>
              <a:t>mapel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6309360" y="4398264"/>
            <a:ext cx="539496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419088" y="4562857"/>
            <a:ext cx="384048" cy="384048"/>
          </a:xfrm>
          <a:prstGeom prst="ellipse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1F2937"/>
                </a:solidFill>
              </a:defRPr>
            </a:pPr>
            <a:r>
              <a:t>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4608576"/>
            <a:ext cx="4709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t>Review submissions oleh staff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A2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6547104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FDBFE"/>
                </a:solidFill>
              </a:defRPr>
            </a:pPr>
            <a:r>
              <a:t>Pratistha Cendekia Prestasi · CAT Apps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547104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D96A"/>
                </a:solidFill>
              </a:defRPr>
            </a:pPr>
            <a:r>
              <a:t>13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2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Modul 3–4 · Pendaftaran &amp; Tryout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38757"/>
            <a:ext cx="5394960" cy="703275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04850" y="1998370"/>
            <a:ext cx="384048" cy="384048"/>
          </a:xfrm>
          <a:prstGeom prst="ellipse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1F2937"/>
                </a:solidFill>
              </a:defRPr>
            </a:pPr>
            <a:r>
              <a:rPr dirty="0"/>
              <a:t>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8626" y="2058051"/>
            <a:ext cx="460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rPr b="1" dirty="0"/>
              <a:t>Multi-</a:t>
            </a:r>
            <a:r>
              <a:rPr b="1" dirty="0" err="1"/>
              <a:t>tahap</a:t>
            </a:r>
            <a:r>
              <a:rPr b="1" dirty="0"/>
              <a:t>: Admin → </a:t>
            </a:r>
            <a:r>
              <a:rPr b="1" dirty="0" err="1"/>
              <a:t>Psiko</a:t>
            </a:r>
            <a:r>
              <a:rPr b="1" dirty="0"/>
              <a:t> → </a:t>
            </a:r>
            <a:r>
              <a:rPr b="1" dirty="0" err="1"/>
              <a:t>Kesehatan</a:t>
            </a:r>
            <a:r>
              <a:rPr b="1" dirty="0"/>
              <a:t> → </a:t>
            </a:r>
            <a:r>
              <a:rPr b="1" dirty="0" err="1"/>
              <a:t>Fisik</a:t>
            </a:r>
            <a:endParaRPr b="1" dirty="0"/>
          </a:p>
        </p:txBody>
      </p:sp>
      <p:sp>
        <p:nvSpPr>
          <p:cNvPr id="8" name="Rounded Rectangle 7"/>
          <p:cNvSpPr/>
          <p:nvPr/>
        </p:nvSpPr>
        <p:spPr>
          <a:xfrm>
            <a:off x="594360" y="3945636"/>
            <a:ext cx="539496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04850" y="4110228"/>
            <a:ext cx="384048" cy="384048"/>
          </a:xfrm>
          <a:prstGeom prst="ellipse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1F2937"/>
                </a:solidFill>
              </a:defRPr>
            </a:pPr>
            <a:r>
              <a:rPr dirty="0"/>
              <a:t>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151706"/>
            <a:ext cx="428815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rPr b="1" dirty="0" err="1"/>
              <a:t>Berkas</a:t>
            </a:r>
            <a:r>
              <a:rPr b="1" dirty="0"/>
              <a:t> </a:t>
            </a:r>
            <a:r>
              <a:rPr b="1" dirty="0" err="1"/>
              <a:t>privat</a:t>
            </a:r>
            <a:r>
              <a:rPr b="1" dirty="0"/>
              <a:t> — </a:t>
            </a:r>
            <a:r>
              <a:rPr b="1" dirty="0" err="1"/>
              <a:t>hanya</a:t>
            </a:r>
            <a:r>
              <a:rPr b="1" dirty="0"/>
              <a:t> </a:t>
            </a:r>
            <a:r>
              <a:rPr b="1" dirty="0" err="1"/>
              <a:t>akses</a:t>
            </a:r>
            <a:r>
              <a:rPr b="1" dirty="0"/>
              <a:t> </a:t>
            </a:r>
            <a:r>
              <a:rPr b="1" dirty="0" err="1"/>
              <a:t>autentikasi</a:t>
            </a:r>
            <a:endParaRPr b="1" dirty="0"/>
          </a:p>
        </p:txBody>
      </p:sp>
      <p:sp>
        <p:nvSpPr>
          <p:cNvPr id="11" name="Rounded Rectangle 10"/>
          <p:cNvSpPr/>
          <p:nvPr/>
        </p:nvSpPr>
        <p:spPr>
          <a:xfrm>
            <a:off x="6309360" y="2830068"/>
            <a:ext cx="539496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419088" y="2994659"/>
            <a:ext cx="384048" cy="384048"/>
          </a:xfrm>
          <a:prstGeom prst="ellipse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1F2937"/>
                </a:solidFill>
              </a:defRPr>
            </a:pPr>
            <a:r>
              <a:t>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3049362"/>
            <a:ext cx="446913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rPr b="1" dirty="0"/>
              <a:t>Alur Kelas Online/</a:t>
            </a:r>
            <a:r>
              <a:rPr b="1" dirty="0" err="1"/>
              <a:t>Ujian</a:t>
            </a:r>
            <a:r>
              <a:rPr b="1" dirty="0"/>
              <a:t> </a:t>
            </a:r>
            <a:r>
              <a:rPr b="1" dirty="0" err="1"/>
              <a:t>dengan</a:t>
            </a:r>
            <a:r>
              <a:rPr b="1" dirty="0"/>
              <a:t> </a:t>
            </a:r>
            <a:r>
              <a:rPr b="1" dirty="0" err="1"/>
              <a:t>konfirmasi</a:t>
            </a:r>
            <a:r>
              <a:rPr b="1" dirty="0"/>
              <a:t> </a:t>
            </a:r>
            <a:r>
              <a:rPr b="1" dirty="0" err="1"/>
              <a:t>bayar</a:t>
            </a:r>
            <a:endParaRPr b="1" dirty="0"/>
          </a:p>
        </p:txBody>
      </p:sp>
      <p:sp>
        <p:nvSpPr>
          <p:cNvPr id="14" name="Rounded Rectangle 13"/>
          <p:cNvSpPr/>
          <p:nvPr/>
        </p:nvSpPr>
        <p:spPr>
          <a:xfrm>
            <a:off x="6309360" y="4947285"/>
            <a:ext cx="539496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419088" y="5111496"/>
            <a:ext cx="384048" cy="384048"/>
          </a:xfrm>
          <a:prstGeom prst="ellipse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1F2937"/>
                </a:solidFill>
              </a:defRPr>
            </a:pPr>
            <a:r>
              <a:t>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12864" y="5143559"/>
            <a:ext cx="423100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rPr b="1" dirty="0"/>
              <a:t>Tryout </a:t>
            </a:r>
            <a:r>
              <a:rPr b="1" dirty="0" err="1"/>
              <a:t>publik</a:t>
            </a:r>
            <a:r>
              <a:rPr b="1" dirty="0"/>
              <a:t> gratis </a:t>
            </a:r>
            <a:r>
              <a:rPr b="1" dirty="0" err="1"/>
              <a:t>tanpa</a:t>
            </a:r>
            <a:r>
              <a:rPr b="1" dirty="0"/>
              <a:t> login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A2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6547104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FDBFE"/>
                </a:solidFill>
              </a:defRPr>
            </a:pPr>
            <a:r>
              <a:t>Pratistha Cendekia Prestasi · CAT Apps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547104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D96A"/>
                </a:solidFill>
              </a:defRPr>
            </a:pPr>
            <a:r>
              <a:t>14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2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Modul 5–6 · Penilaian &amp;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539496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04088" y="1673351"/>
            <a:ext cx="384048" cy="384048"/>
          </a:xfrm>
          <a:prstGeom prst="ellipse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1F2937"/>
                </a:solidFill>
              </a:defRPr>
            </a:pPr>
            <a:r>
              <a:t>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7864" y="1706499"/>
            <a:ext cx="4316730" cy="296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rPr b="1" dirty="0"/>
              <a:t>Auto-scoring PG </a:t>
            </a:r>
            <a:r>
              <a:rPr b="1" dirty="0" err="1"/>
              <a:t>skala</a:t>
            </a:r>
            <a:r>
              <a:rPr b="1" dirty="0"/>
              <a:t> 0–100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529585"/>
            <a:ext cx="539496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04088" y="3694178"/>
            <a:ext cx="384048" cy="384048"/>
          </a:xfrm>
          <a:prstGeom prst="ellipse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1F2937"/>
                </a:solidFill>
              </a:defRPr>
            </a:pPr>
            <a:r>
              <a:t>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746595"/>
            <a:ext cx="4325874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rPr b="1" dirty="0" err="1"/>
              <a:t>Grafik</a:t>
            </a:r>
            <a:r>
              <a:rPr b="1" dirty="0"/>
              <a:t> </a:t>
            </a:r>
            <a:r>
              <a:rPr b="1" dirty="0" err="1"/>
              <a:t>perkembangan</a:t>
            </a:r>
            <a:r>
              <a:rPr b="1" dirty="0"/>
              <a:t> real-time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528696"/>
            <a:ext cx="539496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419088" y="2693287"/>
            <a:ext cx="384048" cy="384048"/>
          </a:xfrm>
          <a:prstGeom prst="ellipse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1F2937"/>
                </a:solidFill>
              </a:defRPr>
            </a:pPr>
            <a:r>
              <a:t>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12864" y="2726435"/>
            <a:ext cx="4392930" cy="296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rPr b="1" dirty="0" err="1"/>
              <a:t>Laporan</a:t>
            </a:r>
            <a:r>
              <a:rPr b="1" dirty="0"/>
              <a:t> </a:t>
            </a:r>
            <a:r>
              <a:rPr b="1" dirty="0" err="1"/>
              <a:t>harian</a:t>
            </a:r>
            <a:r>
              <a:rPr b="1" dirty="0"/>
              <a:t> </a:t>
            </a:r>
            <a:r>
              <a:rPr b="1" dirty="0" err="1"/>
              <a:t>otomatis</a:t>
            </a:r>
            <a:r>
              <a:rPr b="1" dirty="0"/>
              <a:t> </a:t>
            </a:r>
            <a:r>
              <a:rPr b="1" dirty="0" err="1"/>
              <a:t>setelah</a:t>
            </a:r>
            <a:r>
              <a:rPr b="1" dirty="0"/>
              <a:t> quiz/</a:t>
            </a:r>
            <a:r>
              <a:rPr b="1" dirty="0" err="1"/>
              <a:t>ujian</a:t>
            </a:r>
            <a:endParaRPr b="1" dirty="0"/>
          </a:p>
        </p:txBody>
      </p:sp>
      <p:sp>
        <p:nvSpPr>
          <p:cNvPr id="14" name="Rounded Rectangle 13"/>
          <p:cNvSpPr/>
          <p:nvPr/>
        </p:nvSpPr>
        <p:spPr>
          <a:xfrm>
            <a:off x="6309360" y="4489703"/>
            <a:ext cx="539496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419088" y="4654296"/>
            <a:ext cx="384048" cy="384048"/>
          </a:xfrm>
          <a:prstGeom prst="ellipse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1F2937"/>
                </a:solidFill>
              </a:defRPr>
            </a:pPr>
            <a:r>
              <a:t>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766" y="4700125"/>
            <a:ext cx="2036840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rPr b="1" dirty="0"/>
              <a:t>Dashboard </a:t>
            </a:r>
            <a:r>
              <a:rPr b="1" dirty="0" err="1"/>
              <a:t>khusus</a:t>
            </a:r>
            <a:r>
              <a:rPr b="1" dirty="0"/>
              <a:t> per role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A2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6547104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FDBFE"/>
                </a:solidFill>
              </a:defRPr>
            </a:pPr>
            <a:r>
              <a:t>Pratistha Cendekia Prestasi · CAT Apps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547104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D96A"/>
                </a:solidFill>
              </a:defRPr>
            </a:pPr>
            <a:r>
              <a:t>15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2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Modul 7–9 · User &amp; Kelas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539496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04088" y="1673351"/>
            <a:ext cx="384048" cy="384048"/>
          </a:xfrm>
          <a:prstGeom prst="ellipse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1F2937"/>
                </a:solidFill>
              </a:defRPr>
            </a:pPr>
            <a:r>
              <a:t>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719181"/>
            <a:ext cx="1959126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rPr b="1" dirty="0" err="1"/>
              <a:t>PWA</a:t>
            </a:r>
            <a:r>
              <a:rPr b="1" dirty="0"/>
              <a:t> installable di mobile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730752"/>
            <a:ext cx="539496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04088" y="3895345"/>
            <a:ext cx="384048" cy="384048"/>
          </a:xfrm>
          <a:prstGeom prst="ellipse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1F2937"/>
                </a:solidFill>
              </a:defRPr>
            </a:pPr>
            <a:r>
              <a:t>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941174"/>
            <a:ext cx="2657972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rPr b="1" dirty="0" err="1"/>
              <a:t>Ruang</a:t>
            </a:r>
            <a:r>
              <a:rPr b="1" dirty="0"/>
              <a:t> </a:t>
            </a:r>
            <a:r>
              <a:rPr b="1" dirty="0" err="1"/>
              <a:t>kelas</a:t>
            </a:r>
            <a:r>
              <a:rPr b="1" dirty="0"/>
              <a:t> digital + </a:t>
            </a:r>
            <a:r>
              <a:rPr b="1" dirty="0" err="1"/>
              <a:t>materi</a:t>
            </a:r>
            <a:r>
              <a:rPr b="1" dirty="0"/>
              <a:t> per </a:t>
            </a:r>
            <a:r>
              <a:rPr b="1" dirty="0" err="1"/>
              <a:t>sesi</a:t>
            </a:r>
            <a:endParaRPr b="1" dirty="0"/>
          </a:p>
        </p:txBody>
      </p:sp>
      <p:sp>
        <p:nvSpPr>
          <p:cNvPr id="11" name="Rounded Rectangle 10"/>
          <p:cNvSpPr/>
          <p:nvPr/>
        </p:nvSpPr>
        <p:spPr>
          <a:xfrm>
            <a:off x="6309360" y="2720340"/>
            <a:ext cx="539496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419088" y="2884931"/>
            <a:ext cx="384048" cy="384048"/>
          </a:xfrm>
          <a:prstGeom prst="ellipse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1F2937"/>
                </a:solidFill>
              </a:defRPr>
            </a:pPr>
            <a:r>
              <a:t>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2950081"/>
            <a:ext cx="2052037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rPr b="1" dirty="0"/>
              <a:t>Import user </a:t>
            </a:r>
            <a:r>
              <a:rPr b="1" dirty="0" err="1"/>
              <a:t>massal</a:t>
            </a:r>
            <a:r>
              <a:rPr b="1" dirty="0"/>
              <a:t> via CSV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754880"/>
            <a:ext cx="539496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419088" y="4919473"/>
            <a:ext cx="384048" cy="384048"/>
          </a:xfrm>
          <a:prstGeom prst="ellipse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1F2937"/>
                </a:solidFill>
              </a:defRPr>
            </a:pPr>
            <a:r>
              <a:t>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8153" y="4965302"/>
            <a:ext cx="2720488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rPr b="1" dirty="0"/>
              <a:t>Masa </a:t>
            </a:r>
            <a:r>
              <a:rPr b="1" dirty="0" err="1"/>
              <a:t>aktif</a:t>
            </a:r>
            <a:r>
              <a:rPr b="1" dirty="0"/>
              <a:t> per program (3–12 </a:t>
            </a:r>
            <a:r>
              <a:rPr b="1" dirty="0" err="1"/>
              <a:t>bulan</a:t>
            </a:r>
            <a:r>
              <a:rPr b="1" dirty="0"/>
              <a:t>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A2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6547104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FDBFE"/>
                </a:solidFill>
              </a:defRPr>
            </a:pPr>
            <a:r>
              <a:t>Pratistha Cendekia Prestasi · CAT Apps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547104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D96A"/>
                </a:solidFill>
              </a:defRPr>
            </a:pPr>
            <a:r>
              <a:t>16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2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Modul 10–12 · Laporan &amp; Infra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539496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04088" y="1673351"/>
            <a:ext cx="384048" cy="384048"/>
          </a:xfrm>
          <a:prstGeom prst="ellipse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1F2937"/>
                </a:solidFill>
              </a:defRPr>
            </a:pPr>
            <a:r>
              <a:t>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7864" y="1719181"/>
            <a:ext cx="3244606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rPr b="1" dirty="0"/>
              <a:t>PDF </a:t>
            </a:r>
            <a:r>
              <a:rPr b="1" dirty="0" err="1"/>
              <a:t>laporan</a:t>
            </a:r>
            <a:r>
              <a:rPr b="1" dirty="0"/>
              <a:t> </a:t>
            </a:r>
            <a:r>
              <a:rPr b="1" dirty="0" err="1"/>
              <a:t>perkembangan</a:t>
            </a:r>
            <a:r>
              <a:rPr b="1" dirty="0"/>
              <a:t> </a:t>
            </a:r>
            <a:r>
              <a:rPr b="1" dirty="0" err="1"/>
              <a:t>untuk</a:t>
            </a:r>
            <a:r>
              <a:rPr b="1" dirty="0"/>
              <a:t> orang </a:t>
            </a:r>
            <a:r>
              <a:rPr b="1" dirty="0" err="1"/>
              <a:t>tua</a:t>
            </a:r>
            <a:endParaRPr b="1" dirty="0"/>
          </a:p>
        </p:txBody>
      </p:sp>
      <p:sp>
        <p:nvSpPr>
          <p:cNvPr id="8" name="Rounded Rectangle 7"/>
          <p:cNvSpPr/>
          <p:nvPr/>
        </p:nvSpPr>
        <p:spPr>
          <a:xfrm>
            <a:off x="594360" y="3386547"/>
            <a:ext cx="539496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04088" y="3551140"/>
            <a:ext cx="384048" cy="384048"/>
          </a:xfrm>
          <a:prstGeom prst="ellipse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1F2937"/>
                </a:solidFill>
              </a:defRPr>
            </a:pPr>
            <a:r>
              <a:t>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7864" y="3596969"/>
            <a:ext cx="2627579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rPr b="1" dirty="0" err="1"/>
              <a:t>Ringkasan</a:t>
            </a:r>
            <a:r>
              <a:rPr b="1" dirty="0"/>
              <a:t> </a:t>
            </a:r>
            <a:r>
              <a:rPr b="1" dirty="0" err="1"/>
              <a:t>mingguan</a:t>
            </a:r>
            <a:r>
              <a:rPr b="1" dirty="0"/>
              <a:t> auto-generate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471166"/>
            <a:ext cx="539496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419088" y="2635757"/>
            <a:ext cx="384048" cy="384048"/>
          </a:xfrm>
          <a:prstGeom prst="ellipse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1F2937"/>
                </a:solidFill>
              </a:defRPr>
            </a:pPr>
            <a:r>
              <a:t>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2681587"/>
            <a:ext cx="2284280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rPr b="1" dirty="0" err="1"/>
              <a:t>Peringkat</a:t>
            </a:r>
            <a:r>
              <a:rPr b="1" dirty="0"/>
              <a:t> </a:t>
            </a:r>
            <a:r>
              <a:rPr b="1" dirty="0" err="1"/>
              <a:t>akademik</a:t>
            </a:r>
            <a:r>
              <a:rPr b="1" dirty="0"/>
              <a:t> &amp; </a:t>
            </a:r>
            <a:r>
              <a:rPr b="1" dirty="0" err="1"/>
              <a:t>jasmani</a:t>
            </a:r>
            <a:endParaRPr b="1" dirty="0"/>
          </a:p>
        </p:txBody>
      </p:sp>
      <p:sp>
        <p:nvSpPr>
          <p:cNvPr id="14" name="Rounded Rectangle 13"/>
          <p:cNvSpPr/>
          <p:nvPr/>
        </p:nvSpPr>
        <p:spPr>
          <a:xfrm>
            <a:off x="6309360" y="4398264"/>
            <a:ext cx="539496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419088" y="4562857"/>
            <a:ext cx="384048" cy="384048"/>
          </a:xfrm>
          <a:prstGeom prst="ellipse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1F2937"/>
                </a:solidFill>
              </a:defRPr>
            </a:pPr>
            <a:r>
              <a:t>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12864" y="4623003"/>
            <a:ext cx="2552109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rPr b="1" dirty="0"/>
              <a:t>Deploy Docker + backup </a:t>
            </a:r>
            <a:r>
              <a:rPr b="1" dirty="0" err="1"/>
              <a:t>terjadwal</a:t>
            </a:r>
            <a:endParaRPr b="1" dirty="0"/>
          </a:p>
        </p:txBody>
      </p:sp>
      <p:sp>
        <p:nvSpPr>
          <p:cNvPr id="17" name="Rectangle 1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A2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6547104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FDBFE"/>
                </a:solidFill>
              </a:defRPr>
            </a:pPr>
            <a:r>
              <a:t>Pratistha Cendekia Prestasi · CAT Apps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547104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D96A"/>
                </a:solidFill>
              </a:defRPr>
            </a:pPr>
            <a:r>
              <a:t>17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4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5A623"/>
                </a:solidFill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Fitur &amp; Timeline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9476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FDBFE"/>
                </a:solidFill>
              </a:defRPr>
            </a:pPr>
            <a:r>
              <a:t>Bonus fitur dan jadwal pelaksanaan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2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Fitur Tambahan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96112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FDBFE"/>
                </a:solidFill>
              </a:defRPr>
            </a:pPr>
            <a:r>
              <a:t>Di luar ruang lingkup minimal — value added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93798"/>
            <a:ext cx="539496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2330958"/>
            <a:ext cx="1417320" cy="274320"/>
          </a:xfrm>
          <a:prstGeom prst="roundRect">
            <a:avLst>
              <a:gd name="adj" fmla="val 40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B45309"/>
                </a:solidFill>
              </a:defRPr>
            </a:pPr>
            <a:r>
              <a:rPr dirty="0"/>
              <a:t>Portal Or</a:t>
            </a:r>
            <a:r>
              <a:rPr lang="en-US" dirty="0"/>
              <a:t>ang </a:t>
            </a:r>
            <a:r>
              <a:rPr lang="en-US" dirty="0" err="1"/>
              <a:t>tua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640080" y="2650997"/>
            <a:ext cx="5120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Undangan token · pantau perkembangan anak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263646"/>
            <a:ext cx="539496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0080" y="3400805"/>
            <a:ext cx="1417320" cy="274320"/>
          </a:xfrm>
          <a:prstGeom prst="roundRect">
            <a:avLst>
              <a:gd name="adj" fmla="val 40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B45309"/>
                </a:solidFill>
              </a:defRPr>
            </a:pPr>
            <a:r>
              <a:t>Blog Publik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20846"/>
            <a:ext cx="5120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Beranda, artikel, SEO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263646"/>
            <a:ext cx="539496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355080" y="3400805"/>
            <a:ext cx="1417320" cy="274320"/>
          </a:xfrm>
          <a:prstGeom prst="roundRect">
            <a:avLst>
              <a:gd name="adj" fmla="val 40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B45309"/>
                </a:solidFill>
              </a:defRPr>
            </a:pPr>
            <a:r>
              <a:t>Notifikasi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720846"/>
            <a:ext cx="5120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Pemberitahuan real-time in-app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333493"/>
            <a:ext cx="539496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40080" y="4470654"/>
            <a:ext cx="1417320" cy="274320"/>
          </a:xfrm>
          <a:prstGeom prst="roundRect">
            <a:avLst>
              <a:gd name="adj" fmla="val 40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B45309"/>
                </a:solidFill>
              </a:defRPr>
            </a:pPr>
            <a:r>
              <a:t>PWA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790693"/>
            <a:ext cx="5120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Installable di perangkat mobile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333493"/>
            <a:ext cx="539496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355080" y="4470654"/>
            <a:ext cx="1417320" cy="274320"/>
          </a:xfrm>
          <a:prstGeom prst="roundRect">
            <a:avLst>
              <a:gd name="adj" fmla="val 40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B45309"/>
                </a:solidFill>
              </a:defRPr>
            </a:pPr>
            <a:r>
              <a:t>Multi-bahasa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790693"/>
            <a:ext cx="5120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Toggle Indonesia / English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2193798"/>
            <a:ext cx="539496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355080" y="2330958"/>
            <a:ext cx="1417320" cy="274320"/>
          </a:xfrm>
          <a:prstGeom prst="roundRect">
            <a:avLst>
              <a:gd name="adj" fmla="val 40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B45309"/>
                </a:solidFill>
              </a:defRPr>
            </a:pPr>
            <a:r>
              <a:t>Anti-cheat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650998"/>
            <a:ext cx="5120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Fullscreen, blok copy, deteksi tab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A2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6547104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FDBFE"/>
                </a:solidFill>
              </a:defRPr>
            </a:pPr>
            <a:r>
              <a:t>Pratistha Cendekia Prestasi · CAT Apps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547104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D96A"/>
                </a:solidFill>
              </a:defRPr>
            </a:pPr>
            <a:r>
              <a:t>19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2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Timeline Pelaksanaan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96112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FDBFE"/>
                </a:solidFill>
              </a:defRPr>
            </a:pPr>
            <a:r>
              <a:t>Milestone proyek Mei – Juli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926080"/>
            <a:ext cx="105156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709928" y="2788920"/>
            <a:ext cx="329184" cy="329184"/>
          </a:xfrm>
          <a:prstGeom prst="ellipse">
            <a:avLst/>
          </a:prstGeom>
          <a:solidFill>
            <a:srgbClr val="123B8F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40934" y="2148840"/>
            <a:ext cx="66717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5A623"/>
                </a:solidFill>
              </a:defRPr>
            </a:pPr>
            <a:r>
              <a:rPr sz="1600" dirty="0"/>
              <a:t>4 Mei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39" y="333756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23B8F"/>
                </a:solidFill>
              </a:defRPr>
            </a:pPr>
            <a:r>
              <a:t>Kick-off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2767" y="3703320"/>
            <a:ext cx="180350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B7280"/>
                </a:solidFill>
              </a:defRPr>
            </a:pPr>
            <a:r>
              <a:rPr sz="1400" b="1" dirty="0" err="1"/>
              <a:t>Mulai</a:t>
            </a:r>
            <a:r>
              <a:rPr sz="1400" b="1" dirty="0"/>
              <a:t> </a:t>
            </a:r>
            <a:r>
              <a:rPr sz="1400" b="1" dirty="0" err="1"/>
              <a:t>pengembangan</a:t>
            </a:r>
            <a:endParaRPr sz="1400" b="1" dirty="0"/>
          </a:p>
        </p:txBody>
      </p:sp>
      <p:sp>
        <p:nvSpPr>
          <p:cNvPr id="11" name="Oval 10"/>
          <p:cNvSpPr/>
          <p:nvPr/>
        </p:nvSpPr>
        <p:spPr>
          <a:xfrm>
            <a:off x="3813048" y="2788920"/>
            <a:ext cx="329184" cy="329184"/>
          </a:xfrm>
          <a:prstGeom prst="ellipse">
            <a:avLst/>
          </a:prstGeom>
          <a:solidFill>
            <a:srgbClr val="123B8F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91955" y="2148840"/>
            <a:ext cx="77136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5A623"/>
                </a:solidFill>
              </a:defRPr>
            </a:pPr>
            <a:r>
              <a:rPr lang="en-US" sz="1600" dirty="0"/>
              <a:t>25 Mei</a:t>
            </a:r>
            <a:endParaRPr sz="1600" dirty="0"/>
          </a:p>
        </p:txBody>
      </p:sp>
      <p:sp>
        <p:nvSpPr>
          <p:cNvPr id="13" name="TextBox 12"/>
          <p:cNvSpPr txBox="1"/>
          <p:nvPr/>
        </p:nvSpPr>
        <p:spPr>
          <a:xfrm>
            <a:off x="3108959" y="333756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23B8F"/>
                </a:solidFill>
              </a:defRPr>
            </a:pPr>
            <a:r>
              <a:t>90%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25703" y="3703320"/>
            <a:ext cx="150387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B7280"/>
                </a:solidFill>
              </a:defRPr>
            </a:pPr>
            <a:r>
              <a:rPr sz="1400" b="1" dirty="0"/>
              <a:t>Modul inti </a:t>
            </a:r>
            <a:r>
              <a:rPr sz="1400" b="1" dirty="0" err="1"/>
              <a:t>selesai</a:t>
            </a:r>
            <a:endParaRPr sz="1400" b="1" dirty="0"/>
          </a:p>
        </p:txBody>
      </p:sp>
      <p:sp>
        <p:nvSpPr>
          <p:cNvPr id="15" name="Oval 14"/>
          <p:cNvSpPr/>
          <p:nvPr/>
        </p:nvSpPr>
        <p:spPr>
          <a:xfrm>
            <a:off x="5916168" y="2788920"/>
            <a:ext cx="329184" cy="329184"/>
          </a:xfrm>
          <a:prstGeom prst="ellipse">
            <a:avLst/>
          </a:prstGeom>
          <a:solidFill>
            <a:srgbClr val="123B8F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50379" y="2148840"/>
            <a:ext cx="66075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5A623"/>
                </a:solidFill>
              </a:defRPr>
            </a:pPr>
            <a:r>
              <a:rPr lang="en-US" sz="1600" dirty="0"/>
              <a:t>4</a:t>
            </a:r>
            <a:r>
              <a:rPr sz="1600" dirty="0"/>
              <a:t> </a:t>
            </a:r>
            <a:r>
              <a:rPr lang="en-US" sz="1600" dirty="0"/>
              <a:t>July</a:t>
            </a:r>
            <a:endParaRPr sz="1600" dirty="0"/>
          </a:p>
        </p:txBody>
      </p:sp>
      <p:sp>
        <p:nvSpPr>
          <p:cNvPr id="17" name="TextBox 16"/>
          <p:cNvSpPr txBox="1"/>
          <p:nvPr/>
        </p:nvSpPr>
        <p:spPr>
          <a:xfrm>
            <a:off x="5212080" y="333756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23B8F"/>
                </a:solidFill>
              </a:defRPr>
            </a:pPr>
            <a:r>
              <a:t>Go Live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81628" y="3703320"/>
            <a:ext cx="139826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B7280"/>
                </a:solidFill>
              </a:defRPr>
            </a:pPr>
            <a:r>
              <a:rPr sz="1400" b="1" dirty="0"/>
              <a:t>Deploy </a:t>
            </a:r>
            <a:r>
              <a:rPr sz="1400" b="1" dirty="0" err="1"/>
              <a:t>produksi</a:t>
            </a:r>
            <a:endParaRPr sz="1400" b="1" dirty="0"/>
          </a:p>
        </p:txBody>
      </p:sp>
      <p:sp>
        <p:nvSpPr>
          <p:cNvPr id="19" name="Oval 18"/>
          <p:cNvSpPr/>
          <p:nvPr/>
        </p:nvSpPr>
        <p:spPr>
          <a:xfrm>
            <a:off x="8019288" y="2788920"/>
            <a:ext cx="329184" cy="329184"/>
          </a:xfrm>
          <a:prstGeom prst="ellipse">
            <a:avLst/>
          </a:prstGeom>
          <a:solidFill>
            <a:srgbClr val="123B8F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25449" y="2148840"/>
            <a:ext cx="71686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5A623"/>
                </a:solidFill>
              </a:defRPr>
            </a:pPr>
            <a:r>
              <a:rPr lang="en-US" sz="1600" dirty="0"/>
              <a:t>21</a:t>
            </a:r>
            <a:r>
              <a:rPr sz="1600" dirty="0"/>
              <a:t> </a:t>
            </a:r>
            <a:r>
              <a:rPr sz="1600" dirty="0" err="1"/>
              <a:t>Juli</a:t>
            </a:r>
            <a:endParaRPr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7315199" y="333756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23B8F"/>
                </a:solidFill>
              </a:defRPr>
            </a:pPr>
            <a:r>
              <a:t>Closing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5326" y="3703320"/>
            <a:ext cx="113710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B7280"/>
                </a:solidFill>
              </a:defRPr>
            </a:pPr>
            <a:r>
              <a:rPr sz="1400" b="1" dirty="0" err="1"/>
              <a:t>Serah</a:t>
            </a:r>
            <a:r>
              <a:rPr sz="1400" b="1" dirty="0"/>
              <a:t> </a:t>
            </a:r>
            <a:r>
              <a:rPr sz="1400" b="1" dirty="0" err="1"/>
              <a:t>terima</a:t>
            </a:r>
            <a:endParaRPr sz="1400" b="1" dirty="0"/>
          </a:p>
        </p:txBody>
      </p:sp>
      <p:sp>
        <p:nvSpPr>
          <p:cNvPr id="23" name="Oval 22"/>
          <p:cNvSpPr/>
          <p:nvPr/>
        </p:nvSpPr>
        <p:spPr>
          <a:xfrm>
            <a:off x="10122408" y="2788920"/>
            <a:ext cx="329184" cy="329184"/>
          </a:xfrm>
          <a:prstGeom prst="ellipse">
            <a:avLst/>
          </a:prstGeom>
          <a:solidFill>
            <a:srgbClr val="123B8F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78073" y="2148840"/>
            <a:ext cx="81785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5A623"/>
                </a:solidFill>
              </a:defRPr>
            </a:pPr>
            <a:r>
              <a:rPr lang="en-US" sz="1600" dirty="0"/>
              <a:t>July ‘27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333756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23B8F"/>
                </a:solidFill>
              </a:defRPr>
            </a:pPr>
            <a:r>
              <a:t>Support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401" y="3703320"/>
            <a:ext cx="166520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B7280"/>
                </a:solidFill>
              </a:defRPr>
            </a:pPr>
            <a:r>
              <a:rPr sz="1400" b="1" dirty="0"/>
              <a:t>Maintenance 12 </a:t>
            </a:r>
            <a:r>
              <a:rPr sz="1400" b="1" dirty="0" err="1"/>
              <a:t>bln</a:t>
            </a:r>
            <a:endParaRPr sz="1400" b="1" dirty="0"/>
          </a:p>
        </p:txBody>
      </p:sp>
      <p:sp>
        <p:nvSpPr>
          <p:cNvPr id="27" name="Rectangle 2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A2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6547104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FDBFE"/>
                </a:solidFill>
              </a:defRPr>
            </a:pPr>
            <a:r>
              <a:t>Pratistha Cendekia Prestasi · CAT Apps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547104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D96A"/>
                </a:solidFill>
              </a:defRPr>
            </a:pPr>
            <a:r>
              <a:t>20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2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Demo Alur Pengguna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534924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508760"/>
            <a:ext cx="5349240" cy="5943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627632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Peserta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331720"/>
            <a:ext cx="4892040" cy="530352"/>
          </a:xfrm>
          <a:prstGeom prst="roundRect">
            <a:avLst>
              <a:gd name="adj" fmla="val 15000"/>
            </a:avLst>
          </a:prstGeom>
          <a:solidFill>
            <a:srgbClr val="E8F0FE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60120" y="2423160"/>
            <a:ext cx="347472" cy="34747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44144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t>Daftar &amp; verifikasi email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17520"/>
            <a:ext cx="4892040" cy="530352"/>
          </a:xfrm>
          <a:prstGeom prst="roundRect">
            <a:avLst>
              <a:gd name="adj" fmla="val 15000"/>
            </a:avLst>
          </a:prstGeom>
          <a:solidFill>
            <a:srgbClr val="E8F0FE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60120" y="3108960"/>
            <a:ext cx="347472" cy="34747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12724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t>Pendaftaran multi-tahap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703320"/>
            <a:ext cx="4892040" cy="530352"/>
          </a:xfrm>
          <a:prstGeom prst="roundRect">
            <a:avLst>
              <a:gd name="adj" fmla="val 15000"/>
            </a:avLst>
          </a:prstGeom>
          <a:solidFill>
            <a:srgbClr val="E8F0FE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60120" y="3794759"/>
            <a:ext cx="347472" cy="34747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81304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t>Akses kelas &amp; quiz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389120"/>
            <a:ext cx="4892040" cy="530352"/>
          </a:xfrm>
          <a:prstGeom prst="roundRect">
            <a:avLst>
              <a:gd name="adj" fmla="val 15000"/>
            </a:avLst>
          </a:prstGeom>
          <a:solidFill>
            <a:srgbClr val="E8F0FE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60120" y="4480559"/>
            <a:ext cx="347472" cy="34747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49884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t>Ujian lintas mapel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074920"/>
            <a:ext cx="4892040" cy="530352"/>
          </a:xfrm>
          <a:prstGeom prst="roundRect">
            <a:avLst>
              <a:gd name="adj" fmla="val 15000"/>
            </a:avLst>
          </a:prstGeom>
          <a:solidFill>
            <a:srgbClr val="E8F0FE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60120" y="5166359"/>
            <a:ext cx="347472" cy="34747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518464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t>Lihat dashboard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1508760"/>
            <a:ext cx="534924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72200" y="1508760"/>
            <a:ext cx="534924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46520" y="1627632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Mentor &amp; Admin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2331720"/>
            <a:ext cx="4892040" cy="530352"/>
          </a:xfrm>
          <a:prstGeom prst="roundRect">
            <a:avLst>
              <a:gd name="adj" fmla="val 15000"/>
            </a:avLst>
          </a:prstGeom>
          <a:solidFill>
            <a:srgbClr val="E8F0FE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537960" y="2423160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244144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t>Kelola bank soal &amp; tes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017520"/>
            <a:ext cx="4892040" cy="530352"/>
          </a:xfrm>
          <a:prstGeom prst="roundRect">
            <a:avLst>
              <a:gd name="adj" fmla="val 15000"/>
            </a:avLst>
          </a:prstGeom>
          <a:solidFill>
            <a:srgbClr val="E8F0FE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537960" y="3108960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60" y="312724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t>Atur kelas &amp; materi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703320"/>
            <a:ext cx="4892040" cy="530352"/>
          </a:xfrm>
          <a:prstGeom prst="roundRect">
            <a:avLst>
              <a:gd name="adj" fmla="val 15000"/>
            </a:avLst>
          </a:prstGeom>
          <a:solidFill>
            <a:srgbClr val="E8F0FE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537960" y="3794759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381304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t>Review pendaftaran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4389120"/>
            <a:ext cx="4892040" cy="530352"/>
          </a:xfrm>
          <a:prstGeom prst="roundRect">
            <a:avLst>
              <a:gd name="adj" fmla="val 15000"/>
            </a:avLst>
          </a:prstGeom>
          <a:solidFill>
            <a:srgbClr val="E8F0FE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6537960" y="4480559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5160" y="4498848"/>
            <a:ext cx="1577483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rPr dirty="0"/>
              <a:t>Input </a:t>
            </a:r>
            <a:r>
              <a:rPr lang="en-US" dirty="0" err="1"/>
              <a:t>nilai</a:t>
            </a:r>
            <a:r>
              <a:rPr dirty="0"/>
              <a:t> &amp; </a:t>
            </a:r>
            <a:r>
              <a:rPr dirty="0" err="1"/>
              <a:t>laporan</a:t>
            </a:r>
            <a:endParaRPr dirty="0"/>
          </a:p>
        </p:txBody>
      </p:sp>
      <p:sp>
        <p:nvSpPr>
          <p:cNvPr id="38" name="Rounded Rectangle 37"/>
          <p:cNvSpPr/>
          <p:nvPr/>
        </p:nvSpPr>
        <p:spPr>
          <a:xfrm>
            <a:off x="6400800" y="5074920"/>
            <a:ext cx="4892040" cy="530352"/>
          </a:xfrm>
          <a:prstGeom prst="roundRect">
            <a:avLst>
              <a:gd name="adj" fmla="val 15000"/>
            </a:avLst>
          </a:prstGeom>
          <a:solidFill>
            <a:srgbClr val="E8F0FE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537960" y="5166359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5160" y="5184648"/>
            <a:ext cx="2945550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rPr lang="en-US" dirty="0" err="1"/>
              <a:t>Kelola</a:t>
            </a:r>
            <a:r>
              <a:rPr lang="en-US" dirty="0"/>
              <a:t> </a:t>
            </a:r>
            <a:r>
              <a:rPr lang="en-US" dirty="0" err="1"/>
              <a:t>peserta</a:t>
            </a:r>
            <a:r>
              <a:rPr lang="en-US" dirty="0"/>
              <a:t> </a:t>
            </a:r>
            <a:r>
              <a:rPr lang="en-US" dirty="0" err="1"/>
              <a:t>setelah</a:t>
            </a:r>
            <a:r>
              <a:rPr lang="en-US" dirty="0"/>
              <a:t> </a:t>
            </a:r>
            <a:r>
              <a:rPr lang="en-US" dirty="0" err="1"/>
              <a:t>pendidikan</a:t>
            </a:r>
            <a:r>
              <a:rPr lang="en-US" dirty="0"/>
              <a:t> </a:t>
            </a:r>
            <a:r>
              <a:rPr lang="en-US" dirty="0" err="1"/>
              <a:t>kursus</a:t>
            </a:r>
            <a:endParaRPr dirty="0"/>
          </a:p>
        </p:txBody>
      </p:sp>
      <p:sp>
        <p:nvSpPr>
          <p:cNvPr id="41" name="Rectangle 4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A2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200" y="6547104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FDBFE"/>
                </a:solidFill>
              </a:defRPr>
            </a:pPr>
            <a:r>
              <a:t>Pratistha Cendekia Prestasi · CAT Apps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547104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D96A"/>
                </a:solidFill>
              </a:defRPr>
            </a:pPr>
            <a:r>
              <a:t>21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2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Portal Orang Tua &amp; Catatan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685800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6217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5A623"/>
                </a:solidFill>
              </a:defRPr>
            </a:pPr>
            <a:r>
              <a:t>Portal Orang Tua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240280"/>
            <a:ext cx="6309360" cy="502920"/>
          </a:xfrm>
          <a:prstGeom prst="roundRect">
            <a:avLst>
              <a:gd name="adj" fmla="val 20000"/>
            </a:avLst>
          </a:prstGeom>
          <a:solidFill>
            <a:srgbClr val="FFF7ED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33172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t>Undangan via token dari admin/mentor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898648"/>
            <a:ext cx="6309360" cy="502920"/>
          </a:xfrm>
          <a:prstGeom prst="roundRect">
            <a:avLst>
              <a:gd name="adj" fmla="val 20000"/>
            </a:avLst>
          </a:prstGeom>
          <a:solidFill>
            <a:srgbClr val="FFF7ED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2990088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t>Login &amp; lihat anak terhubung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557016"/>
            <a:ext cx="6309360" cy="502920"/>
          </a:xfrm>
          <a:prstGeom prst="roundRect">
            <a:avLst>
              <a:gd name="adj" fmla="val 20000"/>
            </a:avLst>
          </a:prstGeom>
          <a:solidFill>
            <a:srgbClr val="FFF7ED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3648456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rPr dirty="0" err="1"/>
              <a:t>Grafik</a:t>
            </a:r>
            <a:r>
              <a:rPr dirty="0"/>
              <a:t> </a:t>
            </a:r>
            <a:r>
              <a:rPr dirty="0" err="1"/>
              <a:t>nilai</a:t>
            </a:r>
            <a:r>
              <a:rPr dirty="0"/>
              <a:t> </a:t>
            </a:r>
            <a:r>
              <a:rPr dirty="0" err="1"/>
              <a:t>akademik</a:t>
            </a:r>
            <a:r>
              <a:rPr dirty="0"/>
              <a:t> (1–100) &amp; </a:t>
            </a:r>
            <a:r>
              <a:rPr dirty="0" err="1"/>
              <a:t>jasmani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868680" y="4215384"/>
            <a:ext cx="6309360" cy="502920"/>
          </a:xfrm>
          <a:prstGeom prst="roundRect">
            <a:avLst>
              <a:gd name="adj" fmla="val 20000"/>
            </a:avLst>
          </a:prstGeom>
          <a:solidFill>
            <a:srgbClr val="FFF7ED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4306824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t>Unduh PDF laporan perkembangan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79" y="1417320"/>
            <a:ext cx="3840480" cy="443484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79" y="164592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91C1C"/>
                </a:solidFill>
              </a:defRPr>
            </a:pPr>
            <a:r>
              <a:t>Catatan Teknis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224028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• Esai dinilai manual staff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2898648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• Offline = tes di lokasi fisik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3557016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• Bank soal = pool terpusat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4215384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• Revisi max 5× (Pasal 5)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A2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6547104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FDBFE"/>
                </a:solidFill>
              </a:defRPr>
            </a:pPr>
            <a:r>
              <a:t>Pratistha Cendekia Prestasi · CAT Apps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547104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D96A"/>
                </a:solidFill>
              </a:defRPr>
            </a:pPr>
            <a:r>
              <a:t>22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4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172200"/>
            <a:ext cx="12191695" cy="685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411480"/>
            <a:ext cx="1207795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600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Penutup &amp; Serah Terima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2606040"/>
            <a:ext cx="8138160" cy="1828800"/>
          </a:xfrm>
          <a:prstGeom prst="roundRect">
            <a:avLst>
              <a:gd name="adj" fmla="val 6000"/>
            </a:avLst>
          </a:prstGeom>
          <a:solidFill>
            <a:srgbClr val="0F337A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0" y="2834640"/>
            <a:ext cx="7589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Aplikasi CAT Apps telah selesai dikembangkan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dan beroperasi di produksi.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endParaRPr/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Siap mendukung operasional bimbel AKPOL.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709160"/>
            <a:ext cx="9418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BFDBFE"/>
                </a:solidFill>
              </a:defRPr>
            </a:pPr>
            <a:r>
              <a:t>pratisthaindonesia.com  ·  WA +62 813-8964-488  ·  @pratistha.cendikia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4068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5A623"/>
                </a:solidFill>
              </a:defRPr>
            </a:pPr>
            <a:r>
              <a:t>Terima Kasih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1173</Words>
  <Application>Microsoft Office PowerPoint</Application>
  <PresentationFormat>Widescreen</PresentationFormat>
  <Paragraphs>298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lulu malik</cp:lastModifiedBy>
  <cp:revision>6</cp:revision>
  <dcterms:created xsi:type="dcterms:W3CDTF">2013-01-27T09:14:16Z</dcterms:created>
  <dcterms:modified xsi:type="dcterms:W3CDTF">2026-07-21T05:05:08Z</dcterms:modified>
  <cp:category/>
</cp:coreProperties>
</file>